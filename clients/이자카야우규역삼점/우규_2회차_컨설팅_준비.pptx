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0800" cy="68580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468880" cy="411480"/>
          </a:xfrm>
          <a:prstGeom prst="round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CONSULTING  · 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77724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이자카야 우규 역삼점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2회차 컨설팅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589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8C4E0"/>
                </a:solidFill>
                <a:latin typeface="Malgun Gothic"/>
              </a:rPr>
              <a:t>권용준 방식 실전 운영본 — 구조 확인 · 문장화 · 실행 분기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73152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D0D8EC"/>
                </a:solidFill>
                <a:latin typeface="Malgun Gothic"/>
              </a:rPr>
              <a:t>대상 점포   이자카야 우규 역삼점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D0D8EC"/>
                </a:solidFill>
                <a:latin typeface="Malgun Gothic"/>
              </a:rPr>
              <a:t>주소         서울 강남구 테헤란로19길 19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D0D8EC"/>
                </a:solidFill>
                <a:latin typeface="Malgun Gothic"/>
              </a:rPr>
              <a:t>현재 단계   2회차 컨설팅 전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4754880"/>
            <a:ext cx="3017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강남AI컨설팅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8D2EC"/>
                </a:solidFill>
                <a:latin typeface="Malgun Gothic"/>
              </a:rPr>
              <a:t>컨설턴트  권용준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8D2EC"/>
                </a:solidFill>
                <a:latin typeface="Malgun Gothic"/>
              </a:rPr>
              <a:t>컨설턴트  손미현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548640"/>
            <a:ext cx="3017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A9AC0"/>
                </a:solidFill>
                <a:latin typeface="Malgun Gothic"/>
              </a:rPr>
              <a:t>INTERNAL · 실전 운영본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프로젝트 기준값 잠금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본 문서는 이자카야 우규 역삼점 / 서울 강남구 테헤란로19길 19 만을 대상으로 한다 — 타 지점 정보 혼용 금지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7772400" cy="38404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2103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3931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12801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77724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47088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프로젝트명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47088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이자카야 우규 역삼점 2회차 컨설팅 준비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1938528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38528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22576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22576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업체명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322576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이자카야 우규 역삼점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414016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414016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98064"/>
            <a:ext cx="77724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798064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주소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798064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서울 강남구 테헤란로19길 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889504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2889504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73552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273552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신청자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273552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이명순  (컨설팅 신청자)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3364992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3364992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77724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749040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실제 점주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749040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임채성  (실제 운영 책임자)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3840480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840480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24528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24528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현재 회차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224528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2회차  (1회차 진행 이후 단계)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5160" y="4315968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4315968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00016"/>
            <a:ext cx="77724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700016"/>
            <a:ext cx="21031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문서 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700016"/>
            <a:ext cx="39319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2회차 컨설팅 전 준비본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160" y="4791456"/>
            <a:ext cx="118872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4791456"/>
            <a:ext cx="11887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1463040"/>
            <a:ext cx="3044952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1627632"/>
            <a:ext cx="2587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문서 원칙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2029968"/>
            <a:ext cx="2587752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8D2EC"/>
                </a:solidFill>
                <a:latin typeface="Malgun Gothic"/>
              </a:rPr>
              <a:t>· 정확도 우선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8D2EC"/>
                </a:solidFill>
                <a:latin typeface="Malgun Gothic"/>
              </a:rPr>
              <a:t>· 기준값 고정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8D2EC"/>
                </a:solidFill>
                <a:latin typeface="Malgun Gothic"/>
              </a:rPr>
              <a:t>· 단계별 진행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8D2EC"/>
                </a:solidFill>
                <a:latin typeface="Malgun Gothic"/>
              </a:rPr>
              <a:t>· 현장 실행성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8D2EC"/>
                </a:solidFill>
                <a:latin typeface="Malgun Gothic"/>
              </a:rPr>
              <a:t>· 추상보다 실행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3474720"/>
            <a:ext cx="3044952" cy="1920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95360" y="3474720"/>
            <a:ext cx="50800" cy="192024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60" y="3639312"/>
            <a:ext cx="2587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4A7A"/>
                </a:solidFill>
                <a:latin typeface="Malgun Gothic"/>
              </a:rPr>
              <a:t>실전 메모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4041648"/>
            <a:ext cx="2633472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위 7개 값은 본 문서의 기준값으로 고정한다.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이 외 세부 운영정보는 현장 확인 전까지 확정하지 않는다.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이해관계자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핵심은 "누가 말하느냐"가 아니라 "누가 실제로 바꿀 수 있느냐"를 분리하는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828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17320"/>
            <a:ext cx="15544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17320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왜 중요한가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743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2회차 확인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1091672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83080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컨설팅 신청자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783080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algun Gothic"/>
              </a:rPr>
              <a:t>이명순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911096"/>
            <a:ext cx="1234440" cy="310896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911096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783080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일정 조율·초기 커뮤니케이션 주체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783080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실제 운영 개입 범위, 후속 소통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50008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350008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실제 점주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350008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algun Gothic"/>
              </a:rPr>
              <a:t>임채성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2478024"/>
            <a:ext cx="1234440" cy="310896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2478024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50008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현장 실행·최종 운영 판단의 핵심 주체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350008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수정 가능 범위, 최종 실행 우선순위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16936"/>
            <a:ext cx="11091672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916936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승인권자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2916936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Malgun Gothic"/>
              </a:rPr>
              <a:t>미확인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3044952"/>
            <a:ext cx="1234440" cy="310896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3044952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916936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소개문·사진·프로모션·채널 수정 승인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916936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점주 본인인지, 별도 승인 구조 여부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83864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483864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비용 결재권자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483864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Malgun Gothic"/>
              </a:rPr>
              <a:t>미확인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3611880"/>
            <a:ext cx="1234440" cy="310896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79" y="3611880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3483864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유료 촬영·광고·디자인 실행 결정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483864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점주 단독 결재 가능 여부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050792"/>
            <a:ext cx="11091672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050792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실무 담당자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4050792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Malgun Gothic"/>
              </a:rPr>
              <a:t>미확인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79" y="4178808"/>
            <a:ext cx="1234440" cy="310896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79" y="4178808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050792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자료 전달·채널 수정·사진 수집·숙제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050792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실제 실무 연락 창구가 누구인지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617720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617720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채널 관리자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617720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Malgun Gothic"/>
              </a:rPr>
              <a:t>미확인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79" y="4745736"/>
            <a:ext cx="1234440" cy="310896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79" y="4745736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617720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네이버/인스타/예약채널 즉시 수정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617720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각 채널별 관리자·접근 가능 여부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184648"/>
            <a:ext cx="11091672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184648"/>
            <a:ext cx="1828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2E"/>
                </a:solidFill>
                <a:latin typeface="Malgun Gothic"/>
              </a:rPr>
              <a:t>외부 대행/협력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5184648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Malgun Gothic"/>
              </a:rPr>
              <a:t>미확인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79" y="5312664"/>
            <a:ext cx="1234440" cy="310896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79" y="5312664"/>
            <a:ext cx="12344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6440" y="5184648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기존 운영 방식·수정 충돌·권한 회수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5184648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E4A7A"/>
                </a:solidFill>
                <a:latin typeface="Malgun Gothic"/>
              </a:rPr>
              <a:t>대행사/지인/외부 디자이너 관여 여부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1회차 완료 상태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1회차 = 문제 진단·방향 설정  →  2회차 = 구조 확인·문장화·실행 분기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27048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대상 점포 고정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545336"/>
            <a:ext cx="109728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45336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745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우규 역삼점 기준값 외 정보 혼입 방지 유지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7150" cy="877824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27048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기준값 일부 고정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1545336"/>
            <a:ext cx="1097280" cy="292608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545336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일부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745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세부 운영정보·채널 정보·수정 권한 추가 잠금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59736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59736"/>
            <a:ext cx="57150" cy="877824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569464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사람 구조 분리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587752"/>
            <a:ext cx="1097280" cy="292608"/>
          </a:xfrm>
          <a:prstGeom prst="round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587752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진행됨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916936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신청자/점주/승인권자/실무 담당자 분리 확정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59736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59736"/>
            <a:ext cx="57150" cy="877824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569464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채널/권한 구조 인지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2587752"/>
            <a:ext cx="1097280" cy="292608"/>
          </a:xfrm>
          <a:prstGeom prst="round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2587752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진행됨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916936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실제 관리자·수정 가능 범위·권한 보유자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02152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502152"/>
            <a:ext cx="57150" cy="877824"/>
          </a:xfrm>
          <a:prstGeom prst="rect">
            <a:avLst/>
          </a:prstGeom>
          <a:solidFill>
            <a:srgbClr val="5A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611880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리뷰 강점 해석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630168"/>
            <a:ext cx="1097280" cy="292608"/>
          </a:xfrm>
          <a:prstGeom prst="roundRect">
            <a:avLst/>
          </a:prstGeom>
          <a:solidFill>
            <a:srgbClr val="5A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630168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초안 도출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95935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맛·분위기·친절을 소개문/노출 문장으로 변환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502152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502152"/>
            <a:ext cx="57150" cy="877824"/>
          </a:xfrm>
          <a:prstGeom prst="rect">
            <a:avLst/>
          </a:prstGeom>
          <a:solidFill>
            <a:srgbClr val="5A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611880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포지셔닝 초안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60" y="3630168"/>
            <a:ext cx="1097280" cy="292608"/>
          </a:xfrm>
          <a:prstGeom prst="roundRect">
            <a:avLst/>
          </a:prstGeom>
          <a:solidFill>
            <a:srgbClr val="5A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3630168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초안 도출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395935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Fresh × Value × Cozy를 문장·메뉴·채널에 반영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44568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544568"/>
            <a:ext cx="57150" cy="877824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654296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메뉴/고객 인식 파악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4672584"/>
            <a:ext cx="1097280" cy="292608"/>
          </a:xfrm>
          <a:prstGeom prst="round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4672584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진행됨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001768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연어·육회·한우 모츠나베·하이볼/사케 노출 우선순위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544568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544568"/>
            <a:ext cx="57150" cy="877824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4654296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기회요인 파악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24160" y="4672584"/>
            <a:ext cx="1097280" cy="292608"/>
          </a:xfrm>
          <a:prstGeom prst="round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0" y="4672584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진행됨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5001768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작은 양 인식 보완·주차 안내·메뉴 인지도 확장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86984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586984"/>
            <a:ext cx="57150" cy="8778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696712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채널별 정합성 점검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54880" y="5715000"/>
            <a:ext cx="1097280" cy="2926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5715000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추가 확인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6044184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플레이스/인스타/예약 구조와 실제 운영 흐름 대조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5586984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586984"/>
            <a:ext cx="57150" cy="8778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9088" y="5696712"/>
            <a:ext cx="32918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Malgun Gothic"/>
              </a:rPr>
              <a:t>현장 운영 반영 구조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24160" y="5715000"/>
            <a:ext cx="1097280" cy="2926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0" y="5715000"/>
            <a:ext cx="10972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추가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6044184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데이트/직장인 모임/MZ 타깃별 사용 상황 연결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2회차 핵심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이번 회차에서 반드시 달성해야 할 7가지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27632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채널 정합성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12848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채널별 기준값(상호·주소·연락처·영업정보) 일치 여부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46304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2272" y="1627632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62763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645920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리뷰 강점 메시지화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12848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맛·분위기·친절을 실제 노출 메시지로 전환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46304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627632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62763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1645920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메뉴 노출 우선순위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212848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대표 메뉴 노출 순서를 정리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81528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24612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64408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포지셔닝 문장화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831336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Fresh × Value × Cozy를 구체 문장으로 구체화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3081528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62272" y="324612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32461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264408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즉시 수정 판단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831336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현장에서 즉시 수정 가능한 항목의 실행 가능 여부 판단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3081528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93024" y="324612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2461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264408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승인/단독 분리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831336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승인 필요 항목과 점포 단독 실행 항목을 분리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700016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4A7A"/>
            </a:solidFill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4864608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64608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882896"/>
            <a:ext cx="2606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Malgun Gothic"/>
              </a:rPr>
              <a:t>3회차 연결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449824"/>
            <a:ext cx="31546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3회차 전 숙제와 후속 자료 요청 항목을 명확히 남김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2회차 전 사전 확인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현장 도착 전 미리 확보·확인해야 할 자료와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4A7A"/>
                </a:solidFill>
                <a:latin typeface="Malgun Gothic"/>
              </a:rPr>
              <a:t>사전 확인 체크리스트 (14)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네이버 플레이스 링크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9202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8288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인스타그램 링크 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3774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메뉴판 최신본 확보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2860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8848" y="23774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2860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대표 메뉴 사진 확보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8346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7432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주차 안내 문구 존재 여부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7432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8848" y="28346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7432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리뷰 최근 반응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004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2918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2004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예약/문의 동선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2004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8848" y="32918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2004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현장 촬영 가능 여부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576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7490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6576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수정 권한 보유자 참석 여부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6576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98848" y="37490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6576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가격표 최신성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1148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2062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41148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하이볼/사케 노출 상태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1148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8848" y="42062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41148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연어·육회·모츠나베 노출 상태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5720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46634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45720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리뷰 답변 주체 확인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4572000"/>
            <a:ext cx="3657600" cy="384048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98848" y="4663440"/>
            <a:ext cx="201168" cy="201168"/>
          </a:xfrm>
          <a:prstGeom prst="rect">
            <a:avLst/>
          </a:prstGeom>
          <a:noFill/>
          <a:ln w="1905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457200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현장 참석자 이름·역할 확인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1417320"/>
            <a:ext cx="3410712" cy="4480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85632" y="1618488"/>
            <a:ext cx="29535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미팅 전 핵심 질문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85632" y="2075688"/>
            <a:ext cx="914400" cy="254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85632" y="2331720"/>
            <a:ext cx="4572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A6FA5"/>
                </a:solidFill>
                <a:latin typeface="Malgun Gothic"/>
              </a:rPr>
              <a:t>Q1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2331720"/>
            <a:ext cx="240487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0F0"/>
                </a:solidFill>
                <a:latin typeface="Malgun Gothic"/>
              </a:rPr>
              <a:t>오늘 채널 수정 권한을 가진 분이 참석하시나요?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3172968"/>
            <a:ext cx="4572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A6FA5"/>
                </a:solidFill>
                <a:latin typeface="Malgun Gothic"/>
              </a:rPr>
              <a:t>Q2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3172968"/>
            <a:ext cx="240487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0F0"/>
                </a:solidFill>
                <a:latin typeface="Malgun Gothic"/>
              </a:rPr>
              <a:t>메뉴판과 실제 판매 메뉴가 일치하나요?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014216"/>
            <a:ext cx="4572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A6FA5"/>
                </a:solidFill>
                <a:latin typeface="Malgun Gothic"/>
              </a:rPr>
              <a:t>Q3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014216"/>
            <a:ext cx="240487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0F0"/>
                </a:solidFill>
                <a:latin typeface="Malgun Gothic"/>
              </a:rPr>
              <a:t>최근 고객이 가장 많이 찾는 메뉴는 무엇인가요?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4855464"/>
            <a:ext cx="4572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A6FA5"/>
                </a:solidFill>
                <a:latin typeface="Malgun Gothic"/>
              </a:rPr>
              <a:t>Q4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4855464"/>
            <a:ext cx="240487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0F0"/>
                </a:solidFill>
                <a:latin typeface="Malgun Gothic"/>
              </a:rPr>
              <a:t>주차 문의가 실제로 자주 들어오나요?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점검 프레임 ①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채널별 기준값 정합성과 유입 동선 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384048"/>
          </a:xfrm>
          <a:prstGeom prst="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1945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점검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141732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현재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41732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39" y="1417320"/>
            <a:ext cx="267919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2회차 액션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11091672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0136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정보 일치 여부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180136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채널별 정보 차이 가능성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80136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상호·주소·연락처·영업정보 일치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180136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플레이스/인스타/예약 기준값 대조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78608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7860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링크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257860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유입 경로 분산 가능성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57860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공식 링크 우선순위·연결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57860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링크 구조 정리안 메모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55848"/>
            <a:ext cx="11091672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5584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리뷰 응대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335584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응대 구조 미고정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35584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누가 답변하는지, 답변 톤 유무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35584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리뷰 응대 톤 초안 정리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33088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3308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사진 노출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413308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대표 메뉴 대비 노출 최적화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13308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어떤 사진이 대표 노출 중인지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413308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사진 교체 후보 메모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0328"/>
            <a:ext cx="11091672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1032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예약 연결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491032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예약/문의 전환 흐름 점검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59" y="491032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예약 링크·전화·DM 유입 구조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491032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전환 동선 점검표 작성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점검 프레임 ② 리뷰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맛·분위기·친절 강점을 구조화하여 메시지로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384048"/>
          </a:xfrm>
          <a:prstGeom prst="rect">
            <a:avLst/>
          </a:prstGeom>
          <a:solidFill>
            <a:srgbClr val="16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1945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점검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141732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현재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41732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39" y="1417320"/>
            <a:ext cx="267919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2회차 액션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11091672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0136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맛 언급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180136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핵심 강점으로 반복 인식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80136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어떤 메뉴가 맛 평가와 강하게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180136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맛 강점을 메뉴 문장과 연결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78608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7860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분위기 언급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257860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데이트/모임 수요 연결 가능성 높음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57860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고객이 말하는 분위기의 실제 의미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57860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분위기 표현 키워드 정리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55848"/>
            <a:ext cx="11091672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5584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친절 언급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335584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서비스 경험 강점 신호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35584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어떤 응대 경험이 친절로 해석되는지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35584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친절 키워드 소개문 반영 초안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33088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3308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리뷰 구조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413308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강점은 보이나 구조화 부족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13308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최근 리뷰 흐름과 키워드 반복도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413308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키워드 묶음 정리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0328"/>
            <a:ext cx="11091672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10328"/>
            <a:ext cx="2194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약점 신호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491032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작은 양 인식 등 보완 포인트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59" y="4910328"/>
            <a:ext cx="31089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실제 부정/망설임 리뷰 존재 여부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4910328"/>
            <a:ext cx="267919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보완 메시지 여부 판단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점검 프레임 ③ 메뉴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대표 메뉴 노출 우선순위와 메뉴판 구조 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384048"/>
          </a:xfrm>
          <a:prstGeom prst="rect">
            <a:avLst/>
          </a:prstGeom>
          <a:solidFill>
            <a:srgbClr val="5A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1945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점검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141732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현재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41732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확인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39" y="1417320"/>
            <a:ext cx="267919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2회차 액션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11091672" cy="7010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01368"/>
            <a:ext cx="21945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연어 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180136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대표 메뉴군 후보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80136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실제 판매 비중·사진 품질·리뷰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1801368"/>
            <a:ext cx="2679192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노출 우선순위 판단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02408"/>
            <a:ext cx="11091672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02408"/>
            <a:ext cx="21945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육회 노출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250240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시각적 매력·선호도 기대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50240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실제 대표성 여부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502408"/>
            <a:ext cx="2679192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대표 메뉴군 포함 여부 판단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3448"/>
            <a:ext cx="11091672" cy="7010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03448"/>
            <a:ext cx="21945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한우 모츠나베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320344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차별 메뉴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20344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계절성·주문 빈도·대표성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203448"/>
            <a:ext cx="2679192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강조 문장 초안 작성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04488"/>
            <a:ext cx="11091672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04488"/>
            <a:ext cx="21945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하이볼/사케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390448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주류 페어링 강점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390448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실제 주문 비중·메뉴판 가시성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3904488"/>
            <a:ext cx="2679192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주류 노출 구조 정리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05528"/>
            <a:ext cx="11091672" cy="701040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05528"/>
            <a:ext cx="21945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메뉴판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460552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메뉴 인지도 확장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59" y="460552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대표 메뉴가 첫 시야에 오는지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4605528"/>
            <a:ext cx="2679192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메뉴 노출 순서 정리안 작성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06568"/>
            <a:ext cx="11091672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06568"/>
            <a:ext cx="21945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Malgun Gothic"/>
              </a:rPr>
              <a:t>가격 대비 인식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79" y="530656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Value 해석과 연결 가능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5306568"/>
            <a:ext cx="3108960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작은 양 인식과 충돌 여부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39" y="5306568"/>
            <a:ext cx="2679192" cy="701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설명 문장 보완 여부 판단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점검 프레임 ④ 포지셔닝 · ⑤ 현장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Fresh × Value × Cozy 구체화 + 현장 운영 보완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solidFill>
            <a:srgbClr val="3A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4864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④ 포지셔닝 점검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83080"/>
            <a:ext cx="2468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연어·육회·모츠나베·주류 구성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A6A3A"/>
                </a:solidFill>
                <a:latin typeface="Malgun Gothic"/>
              </a:rPr>
              <a:t>Fresh 표현 문장화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86584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86584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386584"/>
            <a:ext cx="2468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가격 대비 만족·구성 대비 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86584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A6A3A"/>
                </a:solidFill>
                <a:latin typeface="Malgun Gothic"/>
              </a:rPr>
              <a:t>Value 설명 문장 보완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90088"/>
            <a:ext cx="5486400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90088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Cozy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990088"/>
            <a:ext cx="2468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분위기·데이트·모임 수요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990088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A6A3A"/>
                </a:solidFill>
                <a:latin typeface="Malgun Gothic"/>
              </a:rPr>
              <a:t>Cozy 키워드 소개문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93592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93592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소개문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593592"/>
            <a:ext cx="2468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현재 구조화 미흡 가능성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593592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A6A3A"/>
                </a:solidFill>
                <a:latin typeface="Malgun Gothic"/>
              </a:rPr>
              <a:t>소개문 초안 작성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97096"/>
            <a:ext cx="5486400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97096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썸네일 반영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197096"/>
            <a:ext cx="2468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비주얼-포지셔닝 연결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97096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A6A3A"/>
                </a:solidFill>
                <a:latin typeface="Malgun Gothic"/>
              </a:rPr>
              <a:t>대표 이미지 방향 결정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00600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800600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메뉴 구조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800600"/>
            <a:ext cx="2468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대표 메뉴-포지셔닝 연결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00600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A6A3A"/>
                </a:solidFill>
                <a:latin typeface="Malgun Gothic"/>
              </a:rPr>
              <a:t>메뉴 소개문/메뉴명 보강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17320"/>
            <a:ext cx="5376672" cy="365760"/>
          </a:xfrm>
          <a:prstGeom prst="rect">
            <a:avLst/>
          </a:prstGeom>
          <a:solidFill>
            <a:srgbClr val="6A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417320"/>
            <a:ext cx="53766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⑤ 현장 운영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783080"/>
            <a:ext cx="5376672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1783080"/>
            <a:ext cx="14630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작은 양 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1783080"/>
            <a:ext cx="1920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기회요인으로 파악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1783080"/>
            <a:ext cx="16916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A4A1A"/>
                </a:solidFill>
                <a:latin typeface="Malgun Gothic"/>
              </a:rPr>
              <a:t>보완 메시지/사진 보강 정리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386584"/>
            <a:ext cx="5376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2386584"/>
            <a:ext cx="14630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주차 안내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2386584"/>
            <a:ext cx="1920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안내 부족 가능성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2386584"/>
            <a:ext cx="16916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A4A1A"/>
                </a:solidFill>
                <a:latin typeface="Malgun Gothic"/>
              </a:rPr>
              <a:t>주차 안내 문구 초안 작성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990088"/>
            <a:ext cx="5376672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2990088"/>
            <a:ext cx="14630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메뉴 인지도 확장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2990088"/>
            <a:ext cx="1920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대표 메뉴 외 확장 필요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2990088"/>
            <a:ext cx="16916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A4A1A"/>
                </a:solidFill>
                <a:latin typeface="Malgun Gothic"/>
              </a:rPr>
              <a:t>노출 우선순위 정리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593592"/>
            <a:ext cx="5376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368" y="3593592"/>
            <a:ext cx="14630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데이트 수요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593592"/>
            <a:ext cx="1920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핵심 페르소나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593592"/>
            <a:ext cx="16916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A4A1A"/>
                </a:solidFill>
                <a:latin typeface="Malgun Gothic"/>
              </a:rPr>
              <a:t>데이트 타깃 문장 초안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197096"/>
            <a:ext cx="5376672" cy="603504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3368" y="4197096"/>
            <a:ext cx="14630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직장인 모임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4197096"/>
            <a:ext cx="1920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핵심 페르소나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4197096"/>
            <a:ext cx="16916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A4A1A"/>
                </a:solidFill>
                <a:latin typeface="Malgun Gothic"/>
              </a:rPr>
              <a:t>직장인 모임 문장 초안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800600"/>
            <a:ext cx="5376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3368" y="4800600"/>
            <a:ext cx="14630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MZ 수요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4800600"/>
            <a:ext cx="1920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Malgun Gothic"/>
              </a:rPr>
              <a:t>감도·사진·주류·경험 연결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4800600"/>
            <a:ext cx="16916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A4A1A"/>
                </a:solidFill>
                <a:latin typeface="Malgun Gothic"/>
              </a:rPr>
              <a:t>MZ 타깃 메시지 방향 정리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2회차 당일 진행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총 90분 — 복기 → 채널/권한 → 리뷰/포지셔닝 → 메뉴/운영 → 즉시 실행 → 승인 분리 → 후속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371600" cy="603504"/>
          </a:xfrm>
          <a:prstGeom prst="round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0~10분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463040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463040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1회차 복기·목표 정렬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40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63040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A6FA5"/>
                </a:solidFill>
                <a:latin typeface="Malgun Gothic"/>
              </a:rP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63040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2회차 우선순위 합의, 오늘 목표 메모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1408"/>
            <a:ext cx="1371600" cy="603504"/>
          </a:xfrm>
          <a:prstGeom prst="roundRect">
            <a:avLst/>
          </a:prstGeom>
          <a:solidFill>
            <a:srgbClr val="2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10~25분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2121408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2121408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채널/권한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121408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121408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4A7A"/>
                </a:solidFill>
                <a:latin typeface="Malgun Gothic"/>
              </a:rPr>
              <a:t>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21408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채널 권한 구조표, 수정 가능 범위 메모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79776"/>
            <a:ext cx="1371600" cy="603504"/>
          </a:xfrm>
          <a:prstGeom prst="roundRect">
            <a:avLst/>
          </a:prstGeom>
          <a:solidFill>
            <a:srgbClr val="16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79776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25~40분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2779776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2779776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리뷰/포지셔닝 점검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779776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779776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8A8A"/>
                </a:solidFill>
                <a:latin typeface="Malgun Gothic"/>
              </a:rPr>
              <a:t>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779776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리뷰 강점 정리, 포지셔닝 문장 초안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38144"/>
            <a:ext cx="1371600" cy="603504"/>
          </a:xfrm>
          <a:prstGeom prst="roundRect">
            <a:avLst/>
          </a:prstGeom>
          <a:solidFill>
            <a:srgbClr val="5A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38144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40~55분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3438144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3438144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메뉴/현장 운영 점검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438144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3438144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A3A7A"/>
                </a:solidFill>
                <a:latin typeface="Malgun Gothic"/>
              </a:rPr>
              <a:t>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438144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메뉴 노출 우선순위안, 운영 보완 포인트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96512"/>
            <a:ext cx="1371600" cy="603504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96512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55~70분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4096512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4096512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즉시 실행 항목 정리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096512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096512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7AE60"/>
                </a:solidFill>
                <a:latin typeface="Malgun Gothic"/>
              </a:rPr>
              <a:t>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096512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즉시 실행 가능 항목 목록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371600" cy="603504"/>
          </a:xfrm>
          <a:prstGeom prst="round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54880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70~80분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7400" y="4754880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40280" y="4754880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승인 필요 항목 분리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4754880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8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4754880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6A817"/>
                </a:solidFill>
                <a:latin typeface="Malgun Gothic"/>
              </a:rPr>
              <a:t>결과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754880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승인 필요 항목 목록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413248"/>
            <a:ext cx="1371600" cy="60350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413248"/>
            <a:ext cx="13716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80~90분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57400" y="5413248"/>
            <a:ext cx="3840480" cy="603504"/>
          </a:xfrm>
          <a:prstGeom prst="round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5413248"/>
            <a:ext cx="356616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Malgun Gothic"/>
              </a:rPr>
              <a:t>후속 과제·3회차 연결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0" y="5413248"/>
            <a:ext cx="560527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5413248"/>
            <a:ext cx="77724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0392B"/>
                </a:solidFill>
                <a:latin typeface="Malgun Gothic"/>
              </a:rPr>
              <a:t>결과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5413248"/>
            <a:ext cx="46177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다음 요청자료, 3회차 연결 메모, 숙제 목록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현장 즉시 실행 가능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"채널 존재"가 아니라 "접근 권한" 기준으로 실행 판단 — 권한 없으면 현장 확정하지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소개문 수정 초안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527048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527048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권한 확보 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745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Fresh × Value × Cozy 반영 문장 초안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08760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대표 메뉴 노출 순서 조정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527048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527048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수정 권한 확보 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745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연어·육회·한우 모츠나베 우선순위 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41448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41448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532888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주차 안내 문구 초안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2551176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551176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주차 정보 확인 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898648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문의 감소용 기본 문장 작성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532888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리뷰 응대 톤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2551176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551176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답변 주체 확인 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898648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맛/분위기/친절 키워드 반영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465576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465576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557016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사진 교체 후보 선정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3575304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3575304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사진 자산·권한 확보 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922776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대표 메뉴 사진 우선 선별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465576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465576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557016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데이트 타깃 문장 초안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3575304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3575304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분위기 해석 확인 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3922776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데이트 수요 연결 문장 작성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489704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489704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581144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직장인 모임 타깃 문장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69080" y="4599432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4599432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모임 수요 구조 확인 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4946904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회식/소규모 모임 연결 문장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489704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489704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4581144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MZ 타깃 문장 초안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8360" y="4599432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4599432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감도/주류/사진 확인 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4946904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SNS/소개문용 문장 초안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13832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513832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605272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하이볼/사케 노출 보강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69080" y="5623560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5623560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주류 노출 구조 확인 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597103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페어링 문장·메뉴 노출 제안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5513832"/>
            <a:ext cx="5440680" cy="877824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513832"/>
            <a:ext cx="5715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9088" y="5605272"/>
            <a:ext cx="3657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Malgun Gothic"/>
              </a:rPr>
              <a:t>작은 양 인식 보완 문장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38360" y="5623560"/>
            <a:ext cx="1783080" cy="292608"/>
          </a:xfrm>
          <a:prstGeom prst="roundRect">
            <a:avLst/>
          </a:prstGeom>
          <a:solidFill>
            <a:srgbClr val="E2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5623560"/>
            <a:ext cx="17830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A6A3A"/>
                </a:solidFill>
                <a:latin typeface="Malgun Gothic"/>
              </a:rPr>
              <a:t>고객 반응 확인 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597103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구성/만족도/추천 조합 설명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본사 또는 승인 필요 여부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본사 존재는 확정하지 않는다 · 상위 승인 구조가 있으면 점포 단독 실행으로 간주하지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384048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17320"/>
            <a:ext cx="3931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왜 승인이 필요할 수 있는가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17320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확인 질문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01368"/>
            <a:ext cx="11091672" cy="530352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01368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가격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01368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고객 안내 기준값 변경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01368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"가격 변경은 점포에서 바로 가능한가요?"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소개문 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331720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브랜드/운영 메시지 변경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31720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"소개문은 누가 승인하나요?"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62072"/>
            <a:ext cx="11091672" cy="530352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62072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사진 교체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62072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대표 이미지가 브랜드 인식에 영향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62072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"대표 사진은 현장에서 바로 바꿀 수 있나요?"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92424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92424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프로모션 문구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392424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할인/행사 표현이 운영 기준과 연결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392424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"이벤트 문구는 누가 확정하나요?"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22776"/>
            <a:ext cx="11091672" cy="530352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22776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광고 집행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922776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비용 집행·타겟 전략 수반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922776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"광고 예산·집행 승인권자는 누구인가요?"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53128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453128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외부 채널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453128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신규 채널 운영 책임·관리 주체 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453128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"새 채널 등록은 점포 단독 가능한가요?"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83480"/>
            <a:ext cx="11091672" cy="530352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983480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협업 계정 접근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983480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보안·운영권 이슈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983480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"외부 협업자가 계정 접근 가능한 구조인가요?"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513832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513832"/>
            <a:ext cx="2286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A2E"/>
                </a:solidFill>
                <a:latin typeface="Malgun Gothic"/>
              </a:rPr>
              <a:t>본사/상위 승인 구조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513832"/>
            <a:ext cx="39319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점포 단독 실행 범위를 바꿈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513832"/>
            <a:ext cx="4389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5A00"/>
                </a:solidFill>
                <a:latin typeface="Malgun Gothic"/>
              </a:rPr>
              <a:t>"점포 외 상위 승인 구조가 별도로 있나요?"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2회차 종료 후 남길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말로 끝내지 않고 반드시 문장·표·목록으로 남긴다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4A7A"/>
                </a:solidFill>
                <a:latin typeface="Malgun Gothic"/>
              </a:rPr>
              <a:t>핵심 산출물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확정 사실 목록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828800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82880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확인 필요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2880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채널 수정안 초안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07792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07792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포지셔닝 문장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2907792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907792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메뉴 노출 우선순위안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907792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907792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즉시 실행 항목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86784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86784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승인 필요 항목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3986784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3986784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다음 요청자료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986784"/>
            <a:ext cx="173736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  <a:effectLst>
            <a:outerShdw blurRad="40000" dist="20000" dir="5400000" rotWithShape="0">
              <a:srgbClr val="1A1A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86784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3회차 전 숙제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417320"/>
            <a:ext cx="5239512" cy="448056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4A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417320"/>
            <a:ext cx="50800" cy="448056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572768"/>
            <a:ext cx="47823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4A7A"/>
                </a:solidFill>
                <a:latin typeface="Malgun Gothic"/>
              </a:rPr>
              <a:t>세부 산출물 메모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167128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2057400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플레이스/인스타/예약채널 기준값 정리표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734056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624328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맛·분위기·친절 리뷰 강점 요약문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3300984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191256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Fresh × Value × Cozy 해석문 1차안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867912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3758184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연어/육회/모츠나베/하이볼/사케 노출 전략 메모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4434840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4325112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작은 양 인식 보완 메시지 초안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5001768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4892040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주차 안내 문구 초안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5568696"/>
            <a:ext cx="128016" cy="12801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5458968"/>
            <a:ext cx="437083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데이트/직장인 모임/MZ 타깃 문장 초안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566928" cy="56692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A1A2E"/>
                </a:solidFill>
                <a:latin typeface="Malgun Gothic"/>
              </a:rPr>
              <a:t>후속 과제 및 3회차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3268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88888"/>
                </a:solidFill>
                <a:latin typeface="Malgun Gothic"/>
              </a:rPr>
              <a:t>3회차는 단순 점검이 아닌 실행 고도화 단계 — 2회차 산출물이 진입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3175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38404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업체 측 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컨설턴트 측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331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3회차 연결 목적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11091672" cy="676656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01368"/>
            <a:ext cx="228600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사진/영상 자료 보강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801368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대표 메뉴·매장 사진 추가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801368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노출 우선순위 기준 선별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01368"/>
            <a:ext cx="23317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6FA5"/>
                </a:solidFill>
                <a:latin typeface="Malgun Gothic"/>
              </a:rPr>
              <a:t>채널 비주얼 개선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78024"/>
            <a:ext cx="110916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78024"/>
            <a:ext cx="228600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메뉴 인지도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478024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우선 메뉴 확인(연어·육회·모츠나베·주류)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78024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메뉴 노출 구조안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478024"/>
            <a:ext cx="23317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6FA5"/>
                </a:solidFill>
                <a:latin typeface="Malgun Gothic"/>
              </a:rPr>
              <a:t>대표 메뉴 확장 노출 설계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54680"/>
            <a:ext cx="11091672" cy="676656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54680"/>
            <a:ext cx="228600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리뷰 강점의 문장화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154680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실제 고객 반응 사례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154680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소개문/리뷰 응대 문장 정리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154680"/>
            <a:ext cx="23317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6FA5"/>
                </a:solidFill>
                <a:latin typeface="Malgun Gothic"/>
              </a:rPr>
              <a:t>메시지 통일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31336"/>
            <a:ext cx="110916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831336"/>
            <a:ext cx="228600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주차 안내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831336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실제 주차 가능 정보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831336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주차 안내 문구 초안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831336"/>
            <a:ext cx="23317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6FA5"/>
                </a:solidFill>
                <a:latin typeface="Malgun Gothic"/>
              </a:rPr>
              <a:t>문의 동선 개선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07992"/>
            <a:ext cx="11091672" cy="676656"/>
          </a:xfrm>
          <a:prstGeom prst="rect">
            <a:avLst/>
          </a:prstGeom>
          <a:solidFill>
            <a:srgbClr val="F4F6FA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07992"/>
            <a:ext cx="228600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작은 양 인식 보완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507992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현장 설명 방식 공유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507992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보완 문장·추천 조합 표현 정리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507992"/>
            <a:ext cx="23317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6FA5"/>
                </a:solidFill>
                <a:latin typeface="Malgun Gothic"/>
              </a:rPr>
              <a:t>인식 개선 메시지 적용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84648"/>
            <a:ext cx="110916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84648"/>
            <a:ext cx="228600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A2E"/>
                </a:solidFill>
                <a:latin typeface="Malgun Gothic"/>
              </a:rPr>
              <a:t>타깃 분화 (데이트/모임/MZ)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184648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어떤 고객이 많이 오는지 체감 제공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184648"/>
            <a:ext cx="30175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A1A1A"/>
                </a:solidFill>
                <a:latin typeface="Malgun Gothic"/>
              </a:rPr>
              <a:t>타깃별 문장·메뉴 연결 설계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5184648"/>
            <a:ext cx="23317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6FA5"/>
                </a:solidFill>
                <a:latin typeface="Malgun Gothic"/>
              </a:rPr>
              <a:t>3회차 타깃형 노출 고도화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강남AI컨설팅 · 권용준 · 손미현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algun Gothic"/>
              </a:rPr>
              <a:t>이자카야 우규 역삼점 · 2회차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2회차 실전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8D2EC"/>
                </a:solidFill>
                <a:latin typeface="Malgun Gothic"/>
              </a:rPr>
              <a:t>권한이 없으면 현장 확정으로 처리하지 않는다</a:t>
            </a:r>
          </a:p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8D2EC"/>
                </a:solidFill>
                <a:latin typeface="Malgun Gothic"/>
              </a:rPr>
              <a:t>수정 가능 여부는 '채널 존재'가 아닌 '접근 권한' 기준으로 판단한다</a:t>
            </a:r>
          </a:p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8D2EC"/>
                </a:solidFill>
                <a:latin typeface="Malgun Gothic"/>
              </a:rPr>
              <a:t>포지셔닝은 추상 문장으로 끝내지 않고 메뉴·사진·소개문에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A9AC0"/>
                </a:solidFill>
                <a:latin typeface="Malgun Gothic"/>
              </a:rPr>
              <a:t>강남AI컨설팅  ·  권용준  ·  손미현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