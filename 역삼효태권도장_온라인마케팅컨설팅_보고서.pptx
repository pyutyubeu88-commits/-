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99832" y="-1371600"/>
            <a:ext cx="5486400" cy="5486400"/>
          </a:xfrm>
          <a:prstGeom prst="ellipse">
            <a:avLst/>
          </a:prstGeom>
          <a:solidFill>
            <a:srgbClr val="122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77272" y="4114800"/>
            <a:ext cx="3657600" cy="3657600"/>
          </a:xfrm>
          <a:prstGeom prst="ellipse">
            <a:avLst/>
          </a:prstGeom>
          <a:solidFill>
            <a:srgbClr val="0A1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10896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소상공인 컨설팅 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9144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</a:rPr>
              <a:t>역삼효태권도장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10128"/>
            <a:ext cx="54864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43814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A4CC"/>
                </a:solidFill>
              </a:rPr>
              <a:t>온라인 마케팅 진단 및 자립형 마케팅 시스템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7AA8"/>
                </a:solidFill>
              </a:rPr>
              <a:t>업 체 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60520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역삼효태권도장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0799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7AA8"/>
                </a:solidFill>
              </a:rPr>
              <a:t>대    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07992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김형열 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5546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7AA8"/>
                </a:solidFill>
              </a:rPr>
              <a:t>컨설팅팀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55464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B그룹 5조  권용준·손미현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0293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7AA8"/>
                </a:solidFill>
              </a:rPr>
              <a:t>기    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202936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2026.05.26 – 2026.05.29  (3일)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5040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7AA8"/>
                </a:solidFill>
              </a:rPr>
              <a:t>분    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550408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학원업  |  온라인 마케팅 진단 및 솔루션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3898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1362456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업체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1618488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역삼효태권도장 기본 정보 및 관원 현황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298448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1298448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9652" y="13898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7124" y="1362456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현황 진단 · 핵심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7124" y="1618488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온라인 마케팅 현황 분석 및 4대 강점 도출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956816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1956816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2020824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1회차 컨설팅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2276856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브랜드 포지셔닝 및 온라인 전략 수립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1636" y="1956816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1636" y="1956816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9652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07124" y="2020824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2회차 컨설팅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7124" y="2276856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네이버 플레이스 최적화 · AI 젬스 시스템 구축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615184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2615184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2706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" y="2679192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3회차 컨설팅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2935224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자립 실습 완료 · 리뷰 성장 계획 · 총정리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1636" y="2615184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31636" y="2615184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9652" y="2706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7124" y="2679192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컨설팅 성과 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07124" y="2935224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Before → After 전후 비교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273552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273552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33649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" y="3337560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자립형 마케팅 루틴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" y="3593592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주 2회 10분 루틴 및 실행 로드맵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31636" y="3273552"/>
            <a:ext cx="545439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31636" y="3273552"/>
            <a:ext cx="50292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9652" y="33649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7124" y="3337560"/>
            <a:ext cx="48874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A3A"/>
                </a:solidFill>
              </a:rPr>
              <a:t>향후 제언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7124" y="3593592"/>
            <a:ext cx="48874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지속가능성 및 성장 전략 제언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역삼효태권도장 기본 정보 및 운영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6692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5230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기본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642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명칭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66420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역삼효태권도장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4825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214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12140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서울 강남구 역삼로 14길 18 2층
역삼역 3번 출구 858m · 역삼초 인근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50545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영업시간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7157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월~금  12:00 – 20:00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09981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172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전화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1729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02-552-7582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55701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6301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운영인력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6301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관장 김형열 + 사범 총 2명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01421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873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등록인원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0873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65명  (유치부 16 · 저학년 23 · 고학년 23 · 중등 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47141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5445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수강료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5445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주 3~4회 월 180,000원  /  주 5회 월 190,000원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928616"/>
            <a:ext cx="534924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0017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운영기간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0017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12년 (인근 3년 + 현 위치 9년)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298448"/>
            <a:ext cx="1731264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1298448"/>
            <a:ext cx="50292" cy="960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0256" y="1417320"/>
            <a:ext cx="1548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1B3E"/>
                </a:solidFill>
              </a:rPr>
              <a:t>65명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256" y="1828800"/>
            <a:ext cx="154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등록 관원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14944" y="1298448"/>
            <a:ext cx="1731264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14944" y="1298448"/>
            <a:ext cx="50292" cy="960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42960" y="1417320"/>
            <a:ext cx="1548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1B3E"/>
                </a:solidFill>
              </a:rPr>
              <a:t>12년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2960" y="1828800"/>
            <a:ext cx="154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운영 경력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37648" y="1298448"/>
            <a:ext cx="1731264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37648" y="1298448"/>
            <a:ext cx="50292" cy="960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65664" y="1417320"/>
            <a:ext cx="1548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D1B3E"/>
                </a:solidFill>
              </a:rPr>
              <a:t>6타임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5664" y="1828800"/>
            <a:ext cx="154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일일 픽업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2377440"/>
            <a:ext cx="5376672" cy="41513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92240" y="2377440"/>
            <a:ext cx="50292" cy="41513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24963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관원 구성 현황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88752" y="2496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A4AE"/>
                </a:solidFill>
              </a:rPr>
              <a:t>총 65명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281635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유치부 (7세)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41080" y="2843784"/>
            <a:ext cx="267919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41080" y="2843784"/>
            <a:ext cx="659493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55437" y="281635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16명  15.4%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75120" y="329184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초등 저학년 1~3학년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3319272"/>
            <a:ext cx="267919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41080" y="3319272"/>
            <a:ext cx="948021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3965" y="329184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23명  35.4%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5120" y="376732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초등 고학년 4~6학년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80" y="3794760"/>
            <a:ext cx="267919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41080" y="3794760"/>
            <a:ext cx="948021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43965" y="376732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23명  35.4%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0" y="424281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중학교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41080" y="4270248"/>
            <a:ext cx="267919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41080" y="4270248"/>
            <a:ext cx="123655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19599" y="42428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3명  4.6%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4809744"/>
            <a:ext cx="5056632" cy="804672"/>
          </a:xfrm>
          <a:prstGeom prst="rect">
            <a:avLst/>
          </a:prstGeom>
          <a:solidFill>
            <a:srgbClr val="F5F7FA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75120" y="4809744"/>
            <a:ext cx="36576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03136" y="4882896"/>
            <a:ext cx="48737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고학년·중등 비율 40%
→ 장기 신뢰 도장의 핵심 경쟁력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현황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온라인 마케팅 인프라 및 강약점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45439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3246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문제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64208"/>
            <a:ext cx="51343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</a:rPr>
              <a:t>마케팅 인프라 부족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057400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221992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157984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네이버 플레이스 리뷰 단 13개 (기본 4 / 키워드 7 / 블로그 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606040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2542032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브랜드명 혼재 — 역삼효태권도장 / 효태권도 병용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90088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2926080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채널별 정보 불일치로 검색 신뢰도 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374136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310128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온라인 신규 유입 구조 사실상 전무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298448"/>
            <a:ext cx="545439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298448"/>
            <a:ext cx="50292" cy="32461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4516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문제 진단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4516" y="1664208"/>
            <a:ext cx="51343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</a:rPr>
              <a:t>디지털 활용 역량 저하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4516" y="2057400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14516" y="2221992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3388" y="2157984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인스타그램 등 SNS 채널 업데이트 미흡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4516" y="2606040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3388" y="2542032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홍보 콘텐츠 자체 제작 경험 부족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4516" y="2990088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3388" y="2926080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학부모 디지털 소통 루틴 부재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14516" y="3374136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3388" y="3310128"/>
            <a:ext cx="50612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마케팅 실행 루틴 전무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663440"/>
            <a:ext cx="11183112" cy="8229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63440"/>
            <a:ext cx="50292" cy="8229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47183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</a:rPr>
              <a:t>핵심 진단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" y="4974336"/>
            <a:ext cx="10927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오프라인 서비스 품질·학부모 만족도는 매우 높으나, 온라인 검색 결과와 신규 유입 구조로 연결되지 않고 있는 상태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614416"/>
            <a:ext cx="209031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D1B3E"/>
                </a:solidFill>
              </a:rPr>
              <a:t>12년 장기 운영 신뢰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6118" y="5614416"/>
            <a:ext cx="209031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D1B3E"/>
                </a:solidFill>
              </a:rPr>
              <a:t>6타임 무료 픽업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9316" y="5614416"/>
            <a:ext cx="209031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D1B3E"/>
                </a:solidFill>
              </a:rPr>
              <a:t>실시간 출결 알림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22515" y="5614416"/>
            <a:ext cx="209031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D1B3E"/>
                </a:solidFill>
              </a:rPr>
              <a:t>정서적 유대 교육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95713" y="5614416"/>
            <a:ext cx="209031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D1B3E"/>
                </a:solidFill>
              </a:rPr>
              <a:t>고학년 40%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21424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60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2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4대 핵심 강점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4CC"/>
                </a:solidFill>
              </a:rPr>
              <a:t>컨설팅 현장 조사를 통해 도출된 역삼효태권도장의 독보적 경쟁력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64208"/>
            <a:ext cx="50292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38528"/>
            <a:ext cx="2624328" cy="4526280"/>
          </a:xfrm>
          <a:prstGeom prst="rect">
            <a:avLst/>
          </a:prstGeom>
          <a:solidFill>
            <a:srgbClr val="1A305C"/>
          </a:solidFill>
          <a:ln w="9525">
            <a:solidFill>
              <a:srgbClr val="2A4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938528"/>
            <a:ext cx="2624328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2624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8716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완벽한 케어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44368"/>
            <a:ext cx="2304288" cy="16459"/>
          </a:xfrm>
          <a:prstGeom prst="rect">
            <a:avLst/>
          </a:prstGeom>
          <a:solidFill>
            <a:srgbClr val="2A4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182112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090672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역삼초 6타임 무료 픽업 (관장 직접 운행)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21024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3529584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실시간 에듀패밀리 출결 사진 전송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5993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968496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외주 없는 관장 직접 책임 운영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1938528"/>
            <a:ext cx="2624328" cy="4526280"/>
          </a:xfrm>
          <a:prstGeom prst="rect">
            <a:avLst/>
          </a:prstGeom>
          <a:solidFill>
            <a:srgbClr val="1A305C"/>
          </a:solidFill>
          <a:ln w="9525">
            <a:solidFill>
              <a:srgbClr val="2A4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55848" y="1938528"/>
            <a:ext cx="2624328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2103120"/>
            <a:ext cx="2624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248716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모두가 주인공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38728" y="2944368"/>
            <a:ext cx="2304288" cy="16459"/>
          </a:xfrm>
          <a:prstGeom prst="rect">
            <a:avLst/>
          </a:prstGeom>
          <a:solidFill>
            <a:srgbClr val="2A4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38728" y="3182112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6744" y="3090672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시범단 위주가 아닌 전원 성장 수업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8728" y="3621024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3529584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예절·체력·태권도·생활지도 4축 체계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38728" y="405993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6744" y="3968496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60분 체계적 수업 설계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8776" y="1938528"/>
            <a:ext cx="2624328" cy="4526280"/>
          </a:xfrm>
          <a:prstGeom prst="rect">
            <a:avLst/>
          </a:prstGeom>
          <a:solidFill>
            <a:srgbClr val="1A305C"/>
          </a:solidFill>
          <a:ln w="9525">
            <a:solidFill>
              <a:srgbClr val="2A4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08776" y="1938528"/>
            <a:ext cx="2624328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1656" y="2103120"/>
            <a:ext cx="2624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1656" y="248716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통합 교육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2944368"/>
            <a:ext cx="2304288" cy="16459"/>
          </a:xfrm>
          <a:prstGeom prst="rect">
            <a:avLst/>
          </a:prstGeom>
          <a:solidFill>
            <a:srgbClr val="2A4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91656" y="3182112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9672" y="3090672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기초체력 / 학교체육 / 태권도 실기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621024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9672" y="3529584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생활지도 통합 60분 수업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91656" y="405993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3968496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정서적 유대 기반 교육 철학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61704" y="1938528"/>
            <a:ext cx="2624328" cy="4526280"/>
          </a:xfrm>
          <a:prstGeom prst="rect">
            <a:avLst/>
          </a:prstGeom>
          <a:solidFill>
            <a:srgbClr val="1A305C"/>
          </a:solidFill>
          <a:ln w="9525">
            <a:solidFill>
              <a:srgbClr val="2A4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61704" y="1938528"/>
            <a:ext cx="2624328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584" y="2103120"/>
            <a:ext cx="2624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248716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12년의 신뢰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44584" y="2944368"/>
            <a:ext cx="2304288" cy="16459"/>
          </a:xfrm>
          <a:prstGeom prst="rect">
            <a:avLst/>
          </a:prstGeom>
          <a:solidFill>
            <a:srgbClr val="2A4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44584" y="3182112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600" y="3090672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졸업생이 찾아오고 이사 후에도 다니는 교육력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44584" y="3621024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3529584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고학년·중등 비율 40% 유지 (객관적 증거)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44584" y="405993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72600" y="3968496"/>
            <a:ext cx="2167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"가랑비에 옷 젖듯이" 철학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1회차 컨설팅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2026.05.26 — 브랜드 포지셔닝 및 온라인 전략 수립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1183112" cy="7498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</a:rPr>
              <a:t>메인 포지셔닝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91056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"아이의 마음까지 책임지는  12년 신뢰"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76272"/>
            <a:ext cx="5303520" cy="4352544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76272"/>
            <a:ext cx="50292" cy="43525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3042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브랜드 전략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5786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핵심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578608"/>
            <a:ext cx="3749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역삼동 맞벌이 학부모 (안심 케어 + 정서적 성장 동시 요구)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62656"/>
            <a:ext cx="502920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145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브랜드 통일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145536"/>
            <a:ext cx="3749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모든 채널 「역삼효태권도장 / 02-552-7582」 완전 일원화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29584"/>
            <a:ext cx="502920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1246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주요 채널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712464"/>
            <a:ext cx="3749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네이버 플레이스 최적화 + 인스타그램 주 2회 10분 루틴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502920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핵심 메시지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279392"/>
            <a:ext cx="3749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"가랑비에 옷 젖듯이" — 서두르지 않는 12년 교육 철학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76272"/>
            <a:ext cx="5742432" cy="4352544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176272"/>
            <a:ext cx="50292" cy="43525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3042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1회차 수행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633472"/>
            <a:ext cx="411480" cy="868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8895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2633472"/>
            <a:ext cx="493776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76288" y="268833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온라인 현황 진단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2962656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네이버 플레이스 리뷰 현황
브랜드명 혼재 및 채널 불일치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93592"/>
            <a:ext cx="411480" cy="868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84962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48272" y="3593592"/>
            <a:ext cx="493776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76288" y="364845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교육 철학 · 핵심 강점 도출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922776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12년 운영 신뢰도
정서적 유대 기반 교육 정신 파악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553712"/>
            <a:ext cx="411480" cy="868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480974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48272" y="4553712"/>
            <a:ext cx="493776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6288" y="460857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4대 핵심 강점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4882896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완벽한 케어 / 모두가 주인공
통합 교육 / 12년의 신뢰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513832"/>
            <a:ext cx="411480" cy="868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576986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48272" y="5513832"/>
            <a:ext cx="493776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76288" y="556869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브랜드 포지셔닝 확정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5843016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메인 포지셔닝 및 타깃 설정
채널 전략 로드맵 수립 및 공유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네이버 플레이스 전면 최적화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2회차 컨설팅 2026.05.28 — 검색 최적화 완전 정비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874519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1298448"/>
            <a:ext cx="2606040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변경 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1298448"/>
            <a:ext cx="361188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변경 후  (최적화 완료)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1298448"/>
            <a:ext cx="3063240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효과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64208"/>
            <a:ext cx="1874519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737360"/>
            <a:ext cx="17465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공식 상호 및 번호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1664208"/>
            <a:ext cx="26060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1737360"/>
            <a:ext cx="2478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상호명·대표번호 미통일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664208"/>
            <a:ext cx="3611880" cy="658368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1737360"/>
            <a:ext cx="3483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449"/>
                </a:solidFill>
              </a:rPr>
              <a:t>역삼효태권도장 / 02-552-7582
완전 통일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1664208"/>
            <a:ext cx="3063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1737360"/>
            <a:ext cx="29352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검색 정확도↑
브랜드 신뢰도↑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322576"/>
            <a:ext cx="1874519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395728"/>
            <a:ext cx="17465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영업 정보 상태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2322576"/>
            <a:ext cx="260604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2395728"/>
            <a:ext cx="2478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운영시간 미입력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322576"/>
            <a:ext cx="3611880" cy="658368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2395728"/>
            <a:ext cx="3483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449"/>
                </a:solidFill>
              </a:rPr>
              <a:t>평일 12:00~20:00 입력
정확한 상담 유도 시간 적용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32520" y="2322576"/>
            <a:ext cx="306324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2395728"/>
            <a:ext cx="29352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상담 전환율↑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980944"/>
            <a:ext cx="1874519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054096"/>
            <a:ext cx="17465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브랜드 소개글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2980944"/>
            <a:ext cx="26060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3054096"/>
            <a:ext cx="2478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단순 텍스트 / 매력 미흡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4920" y="2980944"/>
            <a:ext cx="3611880" cy="658368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66360" y="3054096"/>
            <a:ext cx="3483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449"/>
                </a:solidFill>
              </a:rPr>
              <a:t>"가랑비에 옷 젖듯이..."
12년 철학 + 무료픽업 + 출결앱 키워드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2980944"/>
            <a:ext cx="3063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054096"/>
            <a:ext cx="29352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감성적 신뢰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39312"/>
            <a:ext cx="1874519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712464"/>
            <a:ext cx="17465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시각 자료 구성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3639312"/>
            <a:ext cx="260604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3712464"/>
            <a:ext cx="2478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도장 사진 등록 부족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4920" y="3639312"/>
            <a:ext cx="3611880" cy="658368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60" y="3712464"/>
            <a:ext cx="3483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449"/>
                </a:solidFill>
              </a:rPr>
              <a:t>수련·시설·픽업 사진
신규 업로드 완료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32520" y="3639312"/>
            <a:ext cx="306324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23960" y="3712464"/>
            <a:ext cx="29352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첫인상 신뢰도↑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297680"/>
            <a:ext cx="1874519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370832"/>
            <a:ext cx="17465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핵심 서비스 노출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23160" y="4297680"/>
            <a:ext cx="26060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14600" y="4370832"/>
            <a:ext cx="2478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핵심 강점 기능 미노출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4920" y="4297680"/>
            <a:ext cx="3611880" cy="658368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66360" y="4370832"/>
            <a:ext cx="3483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449"/>
                </a:solidFill>
              </a:rPr>
              <a:t>무료픽업·야간수련·에듀패밀리
안심케어·체력강화 등록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32520" y="4297680"/>
            <a:ext cx="3063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23960" y="4370832"/>
            <a:ext cx="29352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A"/>
                </a:solidFill>
              </a:rPr>
              <a:t>검색 노출 키워드↑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047488"/>
            <a:ext cx="11183112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047488"/>
            <a:ext cx="50292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102352"/>
            <a:ext cx="10927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☞  무료체험 예약 + 네이버 톡톡 기능 추가 → 예비 관원 학부모 소통 편의성 제고 · 전방위 마케팅 활용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AI 젬스 자동화 시스템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제미나이 젬스(Gemini Gems) 3종 + AI 홍보이미지 생성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2590038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5102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" y="1298448"/>
            <a:ext cx="2539746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389888"/>
            <a:ext cx="23157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901952"/>
            <a:ext cx="233400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인스타 포스팅
생성기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" y="2615184"/>
            <a:ext cx="231571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2743200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사진만 넣으면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072384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인스타 텍스트 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401568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해시태그 자동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212" y="5596128"/>
            <a:ext cx="2539746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650992"/>
            <a:ext cx="236143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주 2회 포스팅
5분 이내 완성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7278" y="1298448"/>
            <a:ext cx="2590038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67278" y="1298448"/>
            <a:ext cx="50292" cy="5102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17570" y="1298448"/>
            <a:ext cx="2539746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1870" y="1389888"/>
            <a:ext cx="23157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1870" y="1901952"/>
            <a:ext cx="233400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리뷰 요청
카톡 생성기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31870" y="2615184"/>
            <a:ext cx="231571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1870" y="2743200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학부모에게 부담 없는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1870" y="3072384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개인 맞춤 리뷰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1870" y="3401568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메시지 자동 작성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7570" y="5596128"/>
            <a:ext cx="2539746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31870" y="5650992"/>
            <a:ext cx="236143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3개월 30개 달성
핵심 도구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1636" y="1298448"/>
            <a:ext cx="2590038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1636" y="1298448"/>
            <a:ext cx="50292" cy="5102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1298448"/>
            <a:ext cx="2539746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6228" y="1389888"/>
            <a:ext cx="23157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6228" y="1901952"/>
            <a:ext cx="233400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리뷰 답글
생성기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6228" y="2615184"/>
            <a:ext cx="231571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6228" y="2743200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네이버 리뷰 입력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6228" y="3072384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전문적인 감사 답글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6228" y="3401568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자동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81928" y="5596128"/>
            <a:ext cx="2539746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6228" y="5650992"/>
            <a:ext cx="236143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응답률 100%
신뢰도 제고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5994" y="1298448"/>
            <a:ext cx="2590038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95994" y="1298448"/>
            <a:ext cx="50292" cy="5102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6286" y="1298448"/>
            <a:ext cx="2539746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60586" y="1389888"/>
            <a:ext cx="23157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AI 이미지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0586" y="1901952"/>
            <a:ext cx="233400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홍보 이미지
생성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60586" y="2615184"/>
            <a:ext cx="231571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60586" y="2743200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챗GPT · 제미나이 활용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60586" y="3072384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아이 초상권 보호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0586" y="3401568"/>
            <a:ext cx="233400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일러스트 제작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6286" y="5596128"/>
            <a:ext cx="2539746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60586" y="5650992"/>
            <a:ext cx="236143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홍보물 외주비
절감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관원 구성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출석부 기반 연령별 분석 → 마케팅 타깃 전략 반영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6583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5230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연령별 관원 현황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166420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연령대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1664208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64208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16642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마케팅 포인트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1920240"/>
            <a:ext cx="630936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1956816"/>
            <a:ext cx="141732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048256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7세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1956816"/>
            <a:ext cx="841248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7128" y="2048256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10명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956816"/>
            <a:ext cx="6858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2048256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15.4%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0" y="1956816"/>
            <a:ext cx="32004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85616" y="2048256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초등 입학 준비 전문성 어필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" y="2432304"/>
            <a:ext cx="1417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2523744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1·2학년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30552" y="2432304"/>
            <a:ext cx="84124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67128" y="2523744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12명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17520" y="2432304"/>
            <a:ext cx="685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54096" y="2523744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18.5%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2432304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85616" y="2523744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기초 체력 형성기 집중 케어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" y="2907792"/>
            <a:ext cx="141732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2999232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3학년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30552" y="2907792"/>
            <a:ext cx="841248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67128" y="2999232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11명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17520" y="2907792"/>
            <a:ext cx="6858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54096" y="2999232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16.9%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9040" y="2907792"/>
            <a:ext cx="32004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85616" y="2999232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기초 체력 단단한 허리층 타깃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2" y="3383280"/>
            <a:ext cx="1417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" y="3474720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4·5·6학년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30552" y="3383280"/>
            <a:ext cx="84124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67128" y="3474720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29명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383280"/>
            <a:ext cx="685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54096" y="3474720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44.6%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49040" y="3383280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85616" y="3474720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학교 체육·교우관계 연계 부각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7512" y="3858768"/>
            <a:ext cx="141732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3950208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중학교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30552" y="3858768"/>
            <a:ext cx="841248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67128" y="3950208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3명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17520" y="3858768"/>
            <a:ext cx="6858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54096" y="3950208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4.6%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40" y="3858768"/>
            <a:ext cx="3200400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85616" y="3950208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장기 신뢰 극대화 유지 전략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" y="4334256"/>
            <a:ext cx="1417320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4088" y="4425696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합계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30552" y="4334256"/>
            <a:ext cx="841248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67128" y="4425696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65명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17520" y="4334256"/>
            <a:ext cx="685800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54096" y="4425696"/>
            <a:ext cx="630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40" y="4334256"/>
            <a:ext cx="3200400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85616" y="4425696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역삼동 중심가 안정적 운영 증명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06640" y="1298448"/>
            <a:ext cx="4462272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06640" y="1298448"/>
            <a:ext cx="50292" cy="5230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8952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연령별 비율 시각화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89520" y="171907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7세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41080" y="1746504"/>
            <a:ext cx="286207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41080" y="1746504"/>
            <a:ext cx="1261725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57669" y="1719072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15.4%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9520" y="219456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1·2학년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41080" y="2221992"/>
            <a:ext cx="286207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41080" y="2221992"/>
            <a:ext cx="1515709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211653" y="219456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18.5%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267004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3학년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41080" y="2697480"/>
            <a:ext cx="286207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641080" y="2697480"/>
            <a:ext cx="1384621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80565" y="267004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16.9%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89520" y="314553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4~6학년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641080" y="3172968"/>
            <a:ext cx="286207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41080" y="3172968"/>
            <a:ext cx="3654088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50032" y="314553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44.6%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9520" y="3621024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</a:rPr>
              <a:t>중학교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648456"/>
            <a:ext cx="2862072" cy="219456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641080" y="3648456"/>
            <a:ext cx="376879" cy="21945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72823" y="3621024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589520" y="4297680"/>
            <a:ext cx="4142232" cy="14173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589520" y="4297680"/>
            <a:ext cx="36576" cy="1417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54112" y="4389120"/>
            <a:ext cx="3913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고학년 40% 유지율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54112" y="4754880"/>
            <a:ext cx="39136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일반적으로 학과 공부로 이탈하는
연령대가 전체의 40%를 차지
→ "한 번 믿으면 끝까지" 신뢰 도장의
   가장 강력한 객관적 마케팅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3회차 컨설팅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2026.05.29 — 자립 실습 완료 · 리뷰 성장 계획 · 시스템 총정리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4864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5230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관장님 자립 실습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6420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5분 루틴 완전 체득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176272"/>
            <a:ext cx="109728" cy="10972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103120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젬스 3번  리뷰 답글 생성기 활용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359152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네이버 플레이스 기존 리뷰 답글 실제 등록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633472"/>
            <a:ext cx="521208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779776"/>
            <a:ext cx="109728" cy="10972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2706624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젬스 1번  인스타 포스팅 생성기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962656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인스타그램 2번째 포스팅 업로드 · 품질 조정 완료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36976"/>
            <a:ext cx="521208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383280"/>
            <a:ext cx="109728" cy="10972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310128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5분 이내 완성 루틴 체득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566160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사진(1분) → 젬스 문구(2분) → 업로드(2분) = 5분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840480"/>
            <a:ext cx="521208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986784"/>
            <a:ext cx="109728" cy="10972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913632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네이버 플레이스 보완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4169664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무료체험 예약 + 네이버 톡톡 기능 추가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443984"/>
            <a:ext cx="521208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4590288"/>
            <a:ext cx="109728" cy="10972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1713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AI 홍보 이미지 생성 실습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773168"/>
            <a:ext cx="4983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챗GPT·제미나이 활용 초상권 보호 일러스트 제작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047488"/>
            <a:ext cx="5212080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1298448"/>
            <a:ext cx="5559552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1298448"/>
            <a:ext cx="50292" cy="5230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1417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리뷰 30개 달성 실행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1664208"/>
            <a:ext cx="5285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3개월 단계별 실행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121408"/>
            <a:ext cx="5239512" cy="329184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92240" y="2121408"/>
            <a:ext cx="2270455" cy="32918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218541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현재 13개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17352" y="186537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46E7A"/>
                </a:solidFill>
              </a:rPr>
              <a:t>목표 30개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633472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최적 리뷰 요청 타이밍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907792"/>
            <a:ext cx="36576" cy="6217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2944368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신규 등록 1개월 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6832" y="3218688"/>
            <a:ext cx="5056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적응 완료 → 만족도 최고점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3602736"/>
            <a:ext cx="36576" cy="6217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56832" y="3639312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승급 심사 직후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56832" y="3913632"/>
            <a:ext cx="5056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성취감 최고조 → 긍정 리뷰 자연 유도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4297680"/>
            <a:ext cx="36576" cy="6217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4334256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야간수련·이벤트 직후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6832" y="4608576"/>
            <a:ext cx="5056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특별 경험 → 감동 공유 욕구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4992624"/>
            <a:ext cx="36576" cy="6217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56832" y="5029200"/>
            <a:ext cx="5056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A3A"/>
                </a:solidFill>
              </a:rPr>
              <a:t>학부모 감사 표현 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6832" y="5303520"/>
            <a:ext cx="5056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자발적 만족 → 최적 요청 타이밍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컨설팅 성과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Before → After  전후 비교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96596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298448"/>
            <a:ext cx="4114800" cy="384048"/>
          </a:xfrm>
          <a:prstGeom prst="rect">
            <a:avLst/>
          </a:prstGeom>
          <a:solidFill>
            <a:srgbClr val="8A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BEFORE  컨설팅 이전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298448"/>
            <a:ext cx="4114800" cy="38404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AFTER  컨설팅 이후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82496"/>
            <a:ext cx="1965960" cy="1042415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83664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네이버 플레이스
운영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682496"/>
            <a:ext cx="4114800" cy="1042415"/>
          </a:xfrm>
          <a:prstGeom prst="rect">
            <a:avLst/>
          </a:prstGeom>
          <a:solidFill>
            <a:srgbClr val="FFF0F2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1847088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운영 미흡
리뷰 댓글·소식·정보 불일치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0299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3E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682496"/>
            <a:ext cx="4114800" cy="1042415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1847088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8449"/>
                </a:solidFill>
              </a:rPr>
              <a:t>전면 정비 완료
메뉴·콘텐츠·댓글·소식 업데이트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79775"/>
            <a:ext cx="1965960" cy="1042415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980943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마케팅
문구 작성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2779775"/>
            <a:ext cx="4114800" cy="1042415"/>
          </a:xfrm>
          <a:prstGeom prst="rect">
            <a:avLst/>
          </a:prstGeom>
          <a:solidFill>
            <a:srgbClr val="FFF0F2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2944367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인스타/블로그 문구
자체 작성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127247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3E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779775"/>
            <a:ext cx="4114800" cy="1042415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944367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8449"/>
                </a:solidFill>
              </a:rPr>
              <a:t>AI 젬스 3종 + 매뉴얼 제공
클릭 한 번으로 자동 생성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77054"/>
            <a:ext cx="1965960" cy="1042415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07822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홍보물
제작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877054"/>
            <a:ext cx="4114800" cy="1042415"/>
          </a:xfrm>
          <a:prstGeom prst="rect">
            <a:avLst/>
          </a:prstGeom>
          <a:solidFill>
            <a:srgbClr val="FFF0F2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4041646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홍보물 자체 제작
완전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22452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3E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877054"/>
            <a:ext cx="4114800" cy="1042415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4041646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8449"/>
                </a:solidFill>
              </a:rPr>
              <a:t>챗GPT·제미나이 활용
초상권 보호 일러스트 자유 제작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974333"/>
            <a:ext cx="1965960" cy="1042415"/>
          </a:xfrm>
          <a:prstGeom prst="rect">
            <a:avLst/>
          </a:prstGeom>
          <a:solidFill>
            <a:srgbClr val="F5F7FA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175501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마케팅
실행 루틴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974333"/>
            <a:ext cx="4114800" cy="1042415"/>
          </a:xfrm>
          <a:prstGeom prst="rect">
            <a:avLst/>
          </a:prstGeom>
          <a:solidFill>
            <a:srgbClr val="FFF0F2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51760" y="5138925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마케팅 루틴
전무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321805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3E"/>
                </a:solidFill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0" y="4974333"/>
            <a:ext cx="4114800" cy="1042415"/>
          </a:xfrm>
          <a:prstGeom prst="rect">
            <a:avLst/>
          </a:prstGeom>
          <a:solidFill>
            <a:srgbClr val="F0FFF4"/>
          </a:solidFill>
          <a:ln w="6350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5138925"/>
            <a:ext cx="39319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8449"/>
                </a:solidFill>
              </a:rPr>
              <a:t>주 2회 10분 루틴 확립
촬영 1분+젬스 2분+업로드 2분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자립형 마케팅 루틴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주 2회 10분 루틴 — 컨설팅 이후에도 지속 가능한 성장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207568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2331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" y="1298448"/>
            <a:ext cx="202539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371600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1분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801368"/>
            <a:ext cx="184708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01
사진 촬영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487168"/>
            <a:ext cx="184708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615184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수련 뒷모습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2962656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시설 모습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5184" y="2167128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3E"/>
                </a:solidFill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9776" y="1298448"/>
            <a:ext cx="207568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79776" y="1298448"/>
            <a:ext cx="50292" cy="2331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30068" y="1298448"/>
            <a:ext cx="202539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1371600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2분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1801368"/>
            <a:ext cx="184708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02
젬스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07792" y="2487168"/>
            <a:ext cx="184708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7792" y="2615184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인스타 텍스트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2" y="2962656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해시태그 자동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167128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3E"/>
                </a:solidFill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56632" y="1298448"/>
            <a:ext cx="207568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56632" y="1298448"/>
            <a:ext cx="50292" cy="2331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06924" y="1298448"/>
            <a:ext cx="202539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84648" y="1371600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2분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1801368"/>
            <a:ext cx="184708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03
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648" y="2487168"/>
            <a:ext cx="184708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84648" y="2615184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인스타그램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4648" y="2962656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포스팅 완성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2167128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3E"/>
                </a:solidFill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33488" y="1298448"/>
            <a:ext cx="207568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33488" y="1298448"/>
            <a:ext cx="50292" cy="2331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83780" y="1298448"/>
            <a:ext cx="202539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61504" y="1371600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수시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61504" y="1801368"/>
            <a:ext cx="184708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04
리뷰 요청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61504" y="2487168"/>
            <a:ext cx="184708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61504" y="2615184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젬스 2번 활용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504" y="2962656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맞춤 카톡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5752" y="2167128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1B3E"/>
                </a:solidFill>
              </a:rPr>
              <a:t>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10344" y="1298448"/>
            <a:ext cx="207568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10344" y="1298448"/>
            <a:ext cx="50292" cy="2331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60636" y="1298448"/>
            <a:ext cx="202539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1371600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즉시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1801368"/>
            <a:ext cx="184708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05
리뷰 답글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38360" y="2487168"/>
            <a:ext cx="1847088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38360" y="2615184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젬스 3번 활용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962656"/>
            <a:ext cx="18470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자동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767328"/>
            <a:ext cx="1118311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3767328"/>
            <a:ext cx="50292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3840480"/>
            <a:ext cx="10908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총 5분 이내 완성  —  스마트폰 하나로 전문적인 마케팅 콘텐츠 제작 가능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389120"/>
            <a:ext cx="2590038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4389120"/>
            <a:ext cx="50292" cy="208483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7512" y="4517136"/>
            <a:ext cx="236143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네이버 플레이스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512" y="4828032"/>
            <a:ext cx="233400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7512" y="4992624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5528" y="4919472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정보 최신화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7512" y="5303520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5230368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리뷰 답글 등록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" y="5614416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5541264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소식 게시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67278" y="4389120"/>
            <a:ext cx="2590038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67278" y="4389120"/>
            <a:ext cx="50292" cy="208483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31870" y="4517136"/>
            <a:ext cx="236143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인스타그램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31870" y="4828032"/>
            <a:ext cx="233400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531870" y="4992624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9886" y="4919472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주 2회 포스팅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31870" y="5303520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9886" y="5230368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해시태그 최적화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31870" y="5614416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9886" y="5541264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팔로워 소통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31636" y="4389120"/>
            <a:ext cx="2590038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31636" y="4389120"/>
            <a:ext cx="50292" cy="208483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96228" y="4517136"/>
            <a:ext cx="236143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리뷰 관리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96228" y="4828032"/>
            <a:ext cx="233400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96228" y="4992624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24244" y="4919472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개별 요청 발송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96228" y="5303520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24244" y="5230368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답글 즉시 등록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96228" y="5614416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24244" y="5541264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30개 목표 진행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95994" y="4389120"/>
            <a:ext cx="2590038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095994" y="4389120"/>
            <a:ext cx="50292" cy="208483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60586" y="4517136"/>
            <a:ext cx="236143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환경개선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260586" y="4828032"/>
            <a:ext cx="233400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60586" y="4992624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88602" y="4919472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계단·복도 청결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260586" y="5303520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388602" y="5230368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비포·애프터 기록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60586" y="5614416"/>
            <a:ext cx="45720" cy="45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388602" y="5541264"/>
            <a:ext cx="22059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A3A"/>
                </a:solidFill>
              </a:rPr>
              <a:t>학부모 첫인상 관리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자립 시스템 총정리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컨설팅 종료 시점 구축 완료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463040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3716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네이버 플레이스 최적화 및 업데이트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664208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브랜드 통일·운영시간·소개글·사진·핵심 서비스 전면 정비 / 무료체험 예약 + 네이버 톡톡 추가 → 예비 관원 소통 채널 확보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12264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112264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2276856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185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인스타그램 공식 채널 정상 가동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78024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역삼효태권도장 공식 인스타그램 개설·프로필 구성·첫 포스팅 완료 / 관장님 직접 실습으로 지속 운영 역량 확보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26080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926080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090672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99923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AI 젬스 4종 완전 체득 및 실습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291840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인스타 포스팅 생성기 / 리뷰 요청 카톡 생성기 / 리뷰 답글 생성기 / AI 홍보이미지 생성 → 젬스 활용 매뉴얼 제작 및 숙지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739896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3904488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8130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주 2회 10분 마케팅 루틴 확립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105656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사진 촬영(1분) + 젬스 활용(2분) + 업로드(2분) = 5분 이내 완성 루틴 / 외부 대행 없이 스스로 운영 가능한 자립형 마케팅 시스템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53712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553712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4718304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626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리뷰 30개 달성 단계별 실행 계획 수립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919472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현재 13개 → 3개월 내 30개 목표 / 최적 타이밍별 요청 전략 확정 / 젬스 2번 개별 맞춤 발송으로 강요 없는 리뷰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36752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367528"/>
            <a:ext cx="50292" cy="7498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5532120"/>
            <a:ext cx="329184" cy="420624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4406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환경개선 및 학부모 눈높이 소통 의지 제고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733288"/>
            <a:ext cx="105247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계단·복도 청결 환경개선 (첫인상 관리) / 서울시 소상공인 지원사업 연계 시설개선 300만원 지원 안내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143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475488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237744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향후 제언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768096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4CC"/>
                </a:solidFill>
              </a:rPr>
              <a:t>지속 가능성 및 성장 전략 제언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11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7AA8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111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07AA8"/>
                </a:solidFill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45439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298448"/>
            <a:ext cx="50292" cy="1920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142646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1463040"/>
            <a:ext cx="47045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단톡방 유지 사후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" y="1865376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1993392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컨설팅 팀과 단체 채팅방 유지로 추후 궁금증 즉시 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340864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지속적인 관리 및 피드백 제공 예정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1636" y="1298448"/>
            <a:ext cx="545439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1636" y="1298448"/>
            <a:ext cx="50292" cy="1920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6228" y="142646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463040"/>
            <a:ext cx="47045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WOM 입소문 마케팅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96228" y="1865376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6228" y="1993392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컨설팅 수혜 업체가 주변 소상공인 대상 홍보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6228" y="2340864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→ 추천제도 운영으로 선순환 생태계 구축 제언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46704"/>
            <a:ext cx="545439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46704"/>
            <a:ext cx="50292" cy="1920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3474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511296"/>
            <a:ext cx="47045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서울시 지원사업 연계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3913632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041648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서울특별시 소상공인 지원사업 활용 (seoulsbdc.or.kr)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4389120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하반기 시설개선 지원 최대 300만원 → 환경개선 비용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3346704"/>
            <a:ext cx="545439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3346704"/>
            <a:ext cx="50292" cy="1920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6228" y="34747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6852" y="3511296"/>
            <a:ext cx="47045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콘텐츠 자산 지속 축적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96228" y="3913632"/>
            <a:ext cx="5180076" cy="16459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96228" y="4041648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수련 사진·영상 꾸준한 기록 → 인스타·네이버 콘텐츠 자산화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6228" y="4389120"/>
            <a:ext cx="5180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"가랑비에 옷 젖듯이" 철학을 온라인에서도 실현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13248"/>
            <a:ext cx="11183112" cy="9144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413248"/>
            <a:ext cx="50292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46811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</a:rPr>
              <a:t>관장님 소회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69280"/>
            <a:ext cx="10908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"태권도 학원들이 대체로 홍보 마케팅과 거리가 멀었는데, 3일 동안 완전히! 꼭 필요한 것을 너무나도 꽉꽉 채워주셨습니다.  감사합니다!"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159752" y="-1645920"/>
            <a:ext cx="6400800" cy="6400800"/>
          </a:xfrm>
          <a:prstGeom prst="ellipse">
            <a:avLst/>
          </a:prstGeom>
          <a:solidFill>
            <a:srgbClr val="122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52928"/>
            <a:ext cx="5943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980944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A4CC"/>
                </a:solidFill>
              </a:rPr>
              <a:t>역삼효태권도장  온라인 마케팅 컨설팅 보고서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40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657600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8EE"/>
                </a:solidFill>
              </a:rPr>
              <a:t>네이버 플레이스 완전 최적화 및 브랜드 통일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33088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041648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8EE"/>
                </a:solidFill>
              </a:rPr>
              <a:t>인스타그램 공식 채널 개설 및 첫 포스팅 완료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425696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8EE"/>
                </a:solidFill>
              </a:rPr>
              <a:t>AI 젬스 3종 자동화 시스템 완전 체득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01184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4809744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8EE"/>
                </a:solidFill>
              </a:rPr>
              <a:t>주 2회 10분 마케팅 루틴 자립 시스템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285232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193792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8EE"/>
                </a:solidFill>
              </a:rPr>
              <a:t>3개월 리뷰 30개 달성 단계별 실행 계획 수립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852160"/>
            <a:ext cx="6858000" cy="548640"/>
          </a:xfrm>
          <a:prstGeom prst="rect">
            <a:avLst/>
          </a:prstGeom>
          <a:solidFill>
            <a:srgbClr val="1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852160"/>
            <a:ext cx="3657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A4CC"/>
                </a:solidFill>
              </a:rPr>
              <a:t>B그룹 5조  권용준·손미현  |  2026.05.26 – 2026.05.29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