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45352" y="-2286000"/>
            <a:ext cx="7772400" cy="777240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74152" y="-457200"/>
            <a:ext cx="3657600" cy="3657600"/>
          </a:xfrm>
          <a:prstGeom prst="ellipse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383280"/>
            <a:ext cx="3657600" cy="365760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834640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소상공인 컨설팅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</a:rPr>
              <a:t>역삼효태권도장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50292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90C0"/>
                </a:solidFill>
              </a:rPr>
              <a:t>온라인 마케팅 진단  ·  자립형 마케팅 시스템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5669280" cy="2212848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36576" cy="22128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0965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0B0"/>
                </a:solidFill>
              </a:rPr>
              <a:t>업체명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40965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EE8"/>
                </a:solidFill>
              </a:rPr>
              <a:t>역삼효태권도장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4531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0B0"/>
                </a:solidFill>
              </a:rPr>
              <a:t>대표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44531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EE8"/>
                </a:solidFill>
              </a:rPr>
              <a:t>김형열 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80974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0B0"/>
                </a:solidFill>
              </a:rPr>
              <a:t>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8097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EE8"/>
                </a:solidFill>
              </a:rPr>
              <a:t>B그룹 5조  권용준 · 손미현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1663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0B0"/>
                </a:solidFill>
              </a:rPr>
              <a:t>기간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5166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EE8"/>
                </a:solidFill>
              </a:rPr>
              <a:t>2026.05.26 – 2026.05.29  (3일  /  총 12시간)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5229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80B0"/>
                </a:solidFill>
              </a:rPr>
              <a:t>분야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5522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EE8"/>
                </a:solidFill>
              </a:rPr>
              <a:t>학원업  |  온라인 마케팅 진단 및 홍보 콘텐츠 솔루션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3460" y="11155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188720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업체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554480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역삼효태권도장 기본 정보 및 관원 현황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1005840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6772" y="1005840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111556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5140" y="1188720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현황 진단 · 핵심 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5140" y="1554480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온라인 마케팅 현황 분석 및 4대 강점 도출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64308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464308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3460" y="2574036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6289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647188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1회차 컨설팅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012948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브랜드 포지셔닝 및 온라인 전략 수립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772" y="2464308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6772" y="2464308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2574036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364" y="26289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5140" y="2647188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2회차 컨설팅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5140" y="3012948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네이버 플레이스 최적화  ·  AI 젬스 시스템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22776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22776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3460" y="4032504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087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105656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3회차 컨설팅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4471416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자립 실습 완료  ·  리뷰 성장 계획  ·  총정리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6772" y="3922776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6772" y="3922776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3032" y="4032504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1364" y="4087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5140" y="4105656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컨설팅 성과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5140" y="4471416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Before → After  전후 비교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81244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381244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23460" y="549097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55458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5564124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자립형 마케팅 루틴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929884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주 2회 10분 루틴 및 실행 로드맵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6772" y="5381244"/>
            <a:ext cx="5554980" cy="129387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6772" y="5381244"/>
            <a:ext cx="36576" cy="12938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43032" y="549097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2ECF8"/>
                </a:solidFill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1364" y="55458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5140" y="5564124"/>
            <a:ext cx="47320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향후 제언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5140" y="5929884"/>
            <a:ext cx="4732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지속가능성 및 성장 전략 제언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업체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역삼효태권도장 기본 정보 및 운영 현황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840480" cy="178003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1780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188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81224"/>
                </a:solidFill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40817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26680"/>
                </a:solidFill>
              </a:rPr>
              <a:t>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018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2BB"/>
                </a:solidFill>
              </a:rPr>
              <a:t>등록 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328672"/>
            <a:ext cx="3566160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50464"/>
            <a:ext cx="3840480" cy="178003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50464"/>
            <a:ext cx="36576" cy="1780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33344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81224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3352800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26680"/>
                </a:solidFill>
              </a:rPr>
              <a:t>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3464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2BB"/>
                </a:solidFill>
              </a:rPr>
              <a:t>운영 경력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273296"/>
            <a:ext cx="3566160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95088"/>
            <a:ext cx="3840480" cy="178003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95088"/>
            <a:ext cx="36576" cy="1780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07796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81224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529742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26680"/>
                </a:solidFill>
              </a:rPr>
              <a:t>타임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291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2BB"/>
                </a:solidFill>
              </a:rPr>
              <a:t>일일 픽업 (직접 운행)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6217920"/>
            <a:ext cx="3566160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1005840"/>
            <a:ext cx="7269480" cy="70866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107899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명칭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107899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역삼효태권도장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1714500"/>
            <a:ext cx="7269480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6864" y="178765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위치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178765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서울 강남구 역삼로 14길 18 2층
역삼역 3번 출구 858m  ·  역삼초 인근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2423160"/>
            <a:ext cx="7269480" cy="70866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249631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영업시간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249631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월~금  12:00 – 20:00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2272" y="3131820"/>
            <a:ext cx="7269480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320497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전화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008" y="320497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02-552-7582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3840480"/>
            <a:ext cx="7269480" cy="70866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391363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운영인력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008" y="391363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관장 김형열  +  사범  총 2명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2272" y="4549140"/>
            <a:ext cx="7269480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6864" y="462229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등록인원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462229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65명  (유치부 16 · 저학년 23 · 고학년 23 · 중등 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62272" y="5257800"/>
            <a:ext cx="7269480" cy="70866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533095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수강료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9008" y="533095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주 3~4회  월 180,000원  /  주 5회  월 190,000원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5966460"/>
            <a:ext cx="7269480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26864" y="6039612"/>
            <a:ext cx="109728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운영기간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9008" y="6039612"/>
            <a:ext cx="5852160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12년  (인근 3년  +  현 위치 9년)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62272" y="1005840"/>
            <a:ext cx="7269480" cy="5669280"/>
          </a:xfrm>
          <a:prstGeom prst="rect">
            <a:avLst/>
          </a:prstGeom>
          <a:noFill/>
          <a:ln w="635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현황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온라인 마케팅 인프라 및 강약점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554980" cy="4133088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41330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1155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문제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3502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1224"/>
                </a:solidFill>
              </a:rPr>
              <a:t>마케팅 인프라 부족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773936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1988820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1901952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네이버 플레이스 리뷰 단 13개  (기본 4 / 키워드 7 / 블로그 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798064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2711196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브랜드명 혼재 — 역삼효태권도장 / 효태권도 병용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607308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520440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채널별 정보 불일치로 검색 신뢰도 분산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416552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329684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온라인 신규 유입 구조 사실상 전무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1005840"/>
            <a:ext cx="5554980" cy="4133088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1005840"/>
            <a:ext cx="36576" cy="41330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11155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문제 진단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133502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1224"/>
                </a:solidFill>
              </a:rPr>
              <a:t>디지털 활용 역량 저하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1364" y="1773936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41364" y="1988820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1901952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인스타그램 등 SNS 채널 업데이트 미흡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1364" y="2798064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2711196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홍보 콘텐츠 자체 제작 경험 부족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1364" y="3607308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520440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학부모 디지털 소통 루틴 부재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1364" y="4416552"/>
            <a:ext cx="50292" cy="502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0236" y="4329684"/>
            <a:ext cx="51983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마케팅 실행 루틴 전무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74552" cy="65836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36576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53766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</a:rPr>
              <a:t>핵심 진단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5559552"/>
            <a:ext cx="1107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오프라인 서비스 품질·학부모 만족도는 매우 높으나, 온라인 검색 결과와 신규 유입 구조로 연결되지 않고 있는 상태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26480"/>
            <a:ext cx="2123236" cy="54864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81224"/>
                </a:solidFill>
              </a:rPr>
              <a:t>12년 장기 운영 신뢰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5028" y="6126480"/>
            <a:ext cx="2123236" cy="54864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81224"/>
                </a:solidFill>
              </a:rPr>
              <a:t>역삼초 6타임 무료 픽업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2857" y="6126480"/>
            <a:ext cx="2123236" cy="54864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81224"/>
                </a:solidFill>
              </a:rPr>
              <a:t>실시간 에듀패밀리 출결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20686" y="6126480"/>
            <a:ext cx="2123236" cy="54864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81224"/>
                </a:solidFill>
              </a:rPr>
              <a:t>정서적 유대 교육 철학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8515" y="6126480"/>
            <a:ext cx="2123236" cy="54864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81224"/>
                </a:solidFill>
              </a:rPr>
              <a:t>고학년 40% 유지율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59752" y="-1828800"/>
            <a:ext cx="6400800" cy="640080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4대 핵심 강점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0C0"/>
                </a:solidFill>
              </a:rPr>
              <a:t>컨설팅 현장 조사를 통해 도출된 역삼효태권도장의 독보적 경쟁력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16736"/>
            <a:ext cx="457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2695194" cy="5257800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6554" y="1517904"/>
            <a:ext cx="914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13223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6276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29968"/>
            <a:ext cx="24391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완벽한 케어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578608"/>
            <a:ext cx="2439162" cy="1097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2788920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06624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역삼초 6타임 무료 픽업
(관장 직접 운행, 외주 無)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126992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44696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실시간 에듀패밀리
출결 사진 전송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465064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382768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맞벌이 학부모 완벽 안심 케어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6986" y="1463040"/>
            <a:ext cx="2695194" cy="5257800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6986" y="1463040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6340" y="1517904"/>
            <a:ext cx="914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13223E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1578" y="16276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1578" y="2029968"/>
            <a:ext cx="24391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모두가 주인공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1578" y="2578608"/>
            <a:ext cx="2439162" cy="1097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81578" y="2788920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9594" y="2706624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시범단 위주가 아닌
전원 성장 수업 구조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81578" y="4126992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9594" y="4044696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예절·체력·태권도·
생활지도 4축 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81578" y="5465064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9594" y="5382768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60분 체계적 수업 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6772" y="1463040"/>
            <a:ext cx="2695194" cy="5257800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6772" y="1463040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6126" y="1517904"/>
            <a:ext cx="914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13223E"/>
                </a:solidFill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1364" y="16276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1364" y="2029968"/>
            <a:ext cx="24391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통합 교육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41364" y="2578608"/>
            <a:ext cx="2439162" cy="1097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41364" y="2788920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9380" y="2706624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기초체력 / 학교체육
/ 태권도 / 생활지도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41364" y="4126992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9380" y="4044696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정서적 유대 기반
교육 철학 운영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1364" y="5465064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382768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개인 맞춤 성장 지도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36558" y="1463040"/>
            <a:ext cx="2695194" cy="5257800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6558" y="1463040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25912" y="1517904"/>
            <a:ext cx="914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13223E"/>
                </a:solidFill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01150" y="16276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150" y="2029968"/>
            <a:ext cx="243916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12년의 신뢰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01150" y="2578608"/>
            <a:ext cx="2439162" cy="10972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01150" y="2788920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9166" y="2706624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졸업 후에도 찾아오는
검증된 교육력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01150" y="4126992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9166" y="4044696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고학년·중등 비율 40%
(장기 신뢰 객관 증거)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01150" y="5465064"/>
            <a:ext cx="4572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9166" y="5382768"/>
            <a:ext cx="2311146" cy="133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C2E0"/>
                </a:solidFill>
              </a:rPr>
              <a:t>"가랑비에 옷 젖듯이"
서두르지 않는 철학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1회차 컨설팅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2026.05.26  —  브랜드 포지셔닝 및 온라인 전략 수립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1274552" cy="71323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7132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0789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</a:rPr>
              <a:t>확정된 포지셔닝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261872"/>
            <a:ext cx="11073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메인 포지셔닝  :  "아이의 마음까지 책임지는  12년 신뢰"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83664"/>
            <a:ext cx="5303520" cy="4791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83664"/>
            <a:ext cx="36576" cy="4791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93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브랜드 전략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286000"/>
            <a:ext cx="1170432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핵심 타깃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2286000"/>
            <a:ext cx="3785616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81224"/>
                </a:solidFill>
              </a:rPr>
              <a:t>역삼동 맞벌이 학부모  (안심 케어 + 정서적 성장 동시 요구)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305556"/>
            <a:ext cx="506577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396996"/>
            <a:ext cx="1170432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브랜드 통일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396996"/>
            <a:ext cx="3785616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81224"/>
                </a:solidFill>
              </a:rPr>
              <a:t>모든 채널  「역삼효태권도장 / 02-552-7582」  완전 일원화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416552"/>
            <a:ext cx="506577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07992"/>
            <a:ext cx="1170432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주요 채널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507992"/>
            <a:ext cx="3785616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81224"/>
                </a:solidFill>
              </a:rPr>
              <a:t>네이버 플레이스 최적화  +  인스타그램 주 2회 10분 루틴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5527548"/>
            <a:ext cx="506577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618988"/>
            <a:ext cx="1170432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핵심 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618988"/>
            <a:ext cx="3785616" cy="111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81224"/>
                </a:solidFill>
              </a:rPr>
              <a:t>"가랑비에 옷 젖듯이"  서두르지 않는 12년 교육 철학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6638544"/>
            <a:ext cx="506577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25312" y="1883664"/>
            <a:ext cx="5806440" cy="4791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25312" y="1883664"/>
            <a:ext cx="36576" cy="4791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993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1회차 수행 프로세스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9904" y="2231136"/>
            <a:ext cx="530352" cy="1019556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2537002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38544" y="2231136"/>
            <a:ext cx="4928616" cy="101955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2286000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온라인 현황 진단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2578608"/>
            <a:ext cx="4782312" cy="63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네이버 플레이스 현황  ·  브랜드명 혼재 및 채널 불일치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342132"/>
            <a:ext cx="530352" cy="1019556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364799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38544" y="3342132"/>
            <a:ext cx="4928616" cy="101955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3396996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교육 철학 · 핵심 강점 도출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3689604"/>
            <a:ext cx="4782312" cy="63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12년 운영 신뢰도  ·  정서적 유대 기반 교육 정신 파악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9904" y="4453128"/>
            <a:ext cx="530352" cy="1019556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9904" y="4758994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38544" y="4453128"/>
            <a:ext cx="4928616" cy="101955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4507992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4대 핵심 강점 정의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800600"/>
            <a:ext cx="4782312" cy="63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완벽한 케어  /  모두가 주인공  /  통합 교육  /  12년의 신뢰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9904" y="5564124"/>
            <a:ext cx="530352" cy="1019556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586999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38544" y="5564124"/>
            <a:ext cx="4928616" cy="101955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5618988"/>
            <a:ext cx="4782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브랜드 포지셔닝 확정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5911596"/>
            <a:ext cx="4782312" cy="63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메인 포지셔닝·타깃 설정  ·  채널 전략 로드맵 수립·공유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네이버 플레이스 전면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2회차 컨설팅 2026.05.28  —  검색 최적화 완전 정비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984248" cy="38404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005840"/>
            <a:ext cx="2587752" cy="38404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변경 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05840"/>
            <a:ext cx="3721608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변경 후  (최적화 완료)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005840"/>
            <a:ext cx="2843784" cy="38404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효과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89888"/>
            <a:ext cx="1984248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1856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1224"/>
                </a:solidFill>
              </a:rPr>
              <a:t>공식 상호
및 번호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1389888"/>
            <a:ext cx="2587752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463040"/>
            <a:ext cx="2459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상호명·번호 미통일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89888"/>
            <a:ext cx="3721608" cy="896112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463040"/>
            <a:ext cx="3593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8C5C"/>
                </a:solidFill>
              </a:rPr>
              <a:t>역삼효태권도장 / 02-552-7582
완전 통일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1389888"/>
            <a:ext cx="2843784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1463040"/>
            <a:ext cx="27157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검색 정확도↑
브랜드 신뢰도↑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1984248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59152"/>
            <a:ext cx="1856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1224"/>
                </a:solidFill>
              </a:rPr>
              <a:t>영업 정보
상태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95728" y="2286000"/>
            <a:ext cx="2587752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87168" y="2359152"/>
            <a:ext cx="2459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운영시간 미입력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286000"/>
            <a:ext cx="3721608" cy="896112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359152"/>
            <a:ext cx="3593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8C5C"/>
                </a:solidFill>
              </a:rPr>
              <a:t>평일 12:00~20:00 입력
상담 유도 시간 적용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96528" y="2286000"/>
            <a:ext cx="2843784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2359152"/>
            <a:ext cx="27157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상담 전환율↑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82112"/>
            <a:ext cx="1984248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55264"/>
            <a:ext cx="1856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1224"/>
                </a:solidFill>
              </a:rPr>
              <a:t>브랜드
소개글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182112"/>
            <a:ext cx="2587752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3255264"/>
            <a:ext cx="2459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단순 텍스트 / 매력 미흡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182112"/>
            <a:ext cx="3721608" cy="896112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255264"/>
            <a:ext cx="3593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8C5C"/>
                </a:solidFill>
              </a:rPr>
              <a:t>"가랑비에 옷 젖듯이..." 12년 철학
무료픽업·출결앱 키워드 반영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3182112"/>
            <a:ext cx="2843784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3255264"/>
            <a:ext cx="27157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감성 신뢰 형성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78224"/>
            <a:ext cx="1984248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51376"/>
            <a:ext cx="1856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1224"/>
                </a:solidFill>
              </a:rPr>
              <a:t>시각 자료
구성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95728" y="4078224"/>
            <a:ext cx="2587752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87168" y="4151376"/>
            <a:ext cx="2459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도장 사진 등록 부족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4078224"/>
            <a:ext cx="3721608" cy="896112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151376"/>
            <a:ext cx="3593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8C5C"/>
                </a:solidFill>
              </a:rPr>
              <a:t>수련·시설·픽업 사진
신규 업로드 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96528" y="4078224"/>
            <a:ext cx="2843784" cy="896112"/>
          </a:xfrm>
          <a:prstGeom prst="rect">
            <a:avLst/>
          </a:prstGeom>
          <a:solidFill>
            <a:srgbClr val="E9F0F8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7968" y="4151376"/>
            <a:ext cx="27157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첫인상 신뢰도↑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74336"/>
            <a:ext cx="1984248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047488"/>
            <a:ext cx="1856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1224"/>
                </a:solidFill>
              </a:rPr>
              <a:t>핵심 서비스
노출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95728" y="4974336"/>
            <a:ext cx="2587752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87168" y="5047488"/>
            <a:ext cx="2459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핵심 강점 기능 미노출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974336"/>
            <a:ext cx="3721608" cy="896112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5047488"/>
            <a:ext cx="35935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8C5C"/>
                </a:solidFill>
              </a:rPr>
              <a:t>무료픽업·야간수련·에듀패밀리
안심케어·체력강화 등록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974336"/>
            <a:ext cx="2843784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87968" y="5047488"/>
            <a:ext cx="27157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검색 노출↑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035040"/>
            <a:ext cx="11274552" cy="47548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6035040"/>
            <a:ext cx="36576" cy="475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" y="6108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</a:rPr>
              <a:t>추가 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" y="6291072"/>
            <a:ext cx="11073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무료체험 예약 + 네이버 톡톡 기능 추가 → 예비 관원 소통 채널 확보 · 전방위 마케팅 활용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6952" y="-1371600"/>
            <a:ext cx="5943600" cy="594360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 젬스 자동화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0C0"/>
                </a:solidFill>
              </a:rPr>
              <a:t>제미나이 젬스(Gemini Gems) 3종 + AI 홍보이미지 → 완전 자립형 마케팅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16736"/>
            <a:ext cx="457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2695194" cy="523951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81328"/>
            <a:ext cx="2695194" cy="384048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572768"/>
            <a:ext cx="24757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</a:rPr>
              <a:t>GEMS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993392"/>
            <a:ext cx="245745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인스타
포스팅 생성기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871216"/>
            <a:ext cx="2439162" cy="10972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245745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EDC"/>
                </a:solidFill>
              </a:rPr>
              <a:t>사진만 넣으면
인스타 텍스트와
해시태그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16168"/>
            <a:ext cx="2695194" cy="804672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1616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007608"/>
            <a:ext cx="245745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주 2회  5분 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6986" y="1481328"/>
            <a:ext cx="2695194" cy="523951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6986" y="148132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6986" y="1481328"/>
            <a:ext cx="2695194" cy="384048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1578" y="1572768"/>
            <a:ext cx="24757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</a:rPr>
              <a:t>GEMS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1578" y="1993392"/>
            <a:ext cx="245745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리뷰 요청
카톡 생성기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1578" y="2871216"/>
            <a:ext cx="2439162" cy="10972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1578" y="3017520"/>
            <a:ext cx="245745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EDC"/>
                </a:solidFill>
              </a:rPr>
              <a:t>학부모에게 부담 없는
개인 맞춤 리뷰 요청
메시지 자동 작성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6986" y="5916168"/>
            <a:ext cx="2695194" cy="804672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6986" y="591616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1578" y="6007608"/>
            <a:ext cx="245745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30개 달성 핵심 도구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6772" y="1481328"/>
            <a:ext cx="2695194" cy="523951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6772" y="148132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6772" y="1481328"/>
            <a:ext cx="2695194" cy="384048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1364" y="1572768"/>
            <a:ext cx="24757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</a:rPr>
              <a:t>GEMS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1364" y="1993392"/>
            <a:ext cx="245745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리뷰 답글
생성기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1364" y="2871216"/>
            <a:ext cx="2439162" cy="10972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1364" y="3017520"/>
            <a:ext cx="245745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EDC"/>
                </a:solidFill>
              </a:rPr>
              <a:t>네이버 리뷰 입력 시
전문적인 감사 답글
자동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6772" y="5916168"/>
            <a:ext cx="2695194" cy="804672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6772" y="591616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1364" y="6007608"/>
            <a:ext cx="245745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응답률 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6558" y="1481328"/>
            <a:ext cx="2695194" cy="523951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36558" y="148132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36558" y="1481328"/>
            <a:ext cx="2695194" cy="384048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1150" y="1572768"/>
            <a:ext cx="24757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</a:rPr>
              <a:t>AI 이미지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1150" y="1993392"/>
            <a:ext cx="245745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홍보 이미지
생성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01150" y="2871216"/>
            <a:ext cx="2439162" cy="10972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1150" y="3017520"/>
            <a:ext cx="245745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EDC"/>
                </a:solidFill>
              </a:rPr>
              <a:t>챗GPT · 제미나이 활용
아이 초상권 보호
일러스트 제작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36558" y="5916168"/>
            <a:ext cx="2695194" cy="804672"/>
          </a:xfrm>
          <a:prstGeom prst="rect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36558" y="5916168"/>
            <a:ext cx="2695194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01150" y="6007608"/>
            <a:ext cx="245745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홍보 외주비 절감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관원 구성 데이터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출석부 기반 연령별 분석 → 마케팅 타깃 전략 반영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9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연령대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005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인원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00584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0058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A2BB"/>
                </a:solidFill>
              </a:rPr>
              <a:t>마케팅 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6400800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280160"/>
            <a:ext cx="146304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335024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</a:rPr>
              <a:t>7세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280160"/>
            <a:ext cx="82296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0824" y="1335024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10명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280160"/>
            <a:ext cx="713232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9504" y="1335024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15.4%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1280160"/>
            <a:ext cx="324612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335024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초등 입학 준비 전문성 어필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80082"/>
            <a:ext cx="146304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234946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</a:rPr>
              <a:t>1·2학년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180082"/>
            <a:ext cx="82296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0824" y="2234946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12명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180082"/>
            <a:ext cx="713232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9504" y="2234946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18.5%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2180082"/>
            <a:ext cx="324612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2" y="2234946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기초 체력 형성기 집중 케어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80004"/>
            <a:ext cx="146304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134868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</a:rPr>
              <a:t>3학년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3080004"/>
            <a:ext cx="82296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3134868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11명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80004"/>
            <a:ext cx="713232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9504" y="3134868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16.9%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3080004"/>
            <a:ext cx="324612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3134868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기초 체력 단단한 허리층 타깃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79926"/>
            <a:ext cx="146304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4034790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</a:rPr>
              <a:t>4·5·6학년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3979926"/>
            <a:ext cx="82296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4034790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29명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3979926"/>
            <a:ext cx="713232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9504" y="4034790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44.6%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3979926"/>
            <a:ext cx="3246120" cy="899922"/>
          </a:xfrm>
          <a:prstGeom prst="rect">
            <a:avLst/>
          </a:prstGeom>
          <a:solidFill>
            <a:srgbClr val="FFFFFF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2" y="4034790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학교 체육·교우관계 연계 부각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79848"/>
            <a:ext cx="146304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4934712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102E"/>
                </a:solidFill>
              </a:rPr>
              <a:t>중학교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4879848"/>
            <a:ext cx="82296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4934712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3명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4879848"/>
            <a:ext cx="713232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9504" y="4934712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81224"/>
                </a:solidFill>
              </a:rPr>
              <a:t>4.6%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84448" y="4879848"/>
            <a:ext cx="3246120" cy="899922"/>
          </a:xfrm>
          <a:prstGeom prst="rect">
            <a:avLst/>
          </a:prstGeom>
          <a:solidFill>
            <a:srgbClr val="E9F0F8"/>
          </a:solidFill>
          <a:ln w="4445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9312" y="4934712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장기 신뢰 극대화 유지 전략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79770"/>
            <a:ext cx="1463040" cy="89992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5834634"/>
            <a:ext cx="138988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합계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5779770"/>
            <a:ext cx="822960" cy="89992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0824" y="5834634"/>
            <a:ext cx="74980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65명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5779770"/>
            <a:ext cx="713232" cy="89992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9504" y="5834634"/>
            <a:ext cx="640080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5779770"/>
            <a:ext cx="3246120" cy="89992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5834634"/>
            <a:ext cx="3172968" cy="82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역삼동 중심가 안정적 운영 증명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2592" y="10424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연령별 비율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22592" y="1305031"/>
            <a:ext cx="117043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680"/>
                </a:solidFill>
              </a:rPr>
              <a:t>7세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1358798"/>
            <a:ext cx="3337560" cy="42245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600" y="1358798"/>
            <a:ext cx="1033601" cy="42245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18065" y="1305031"/>
            <a:ext cx="54864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224"/>
                </a:solidFill>
              </a:rPr>
              <a:t>15.4%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2592" y="2073127"/>
            <a:ext cx="117043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680"/>
                </a:solidFill>
              </a:rPr>
              <a:t>1·2학년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2126894"/>
            <a:ext cx="3337560" cy="42245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29600" y="2126894"/>
            <a:ext cx="1241663" cy="42245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26127" y="2073127"/>
            <a:ext cx="54864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224"/>
                </a:solidFill>
              </a:rPr>
              <a:t>18.5%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22592" y="2841223"/>
            <a:ext cx="117043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680"/>
                </a:solidFill>
              </a:rPr>
              <a:t>3학년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2894990"/>
            <a:ext cx="3337560" cy="42245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29600" y="2894990"/>
            <a:ext cx="1134276" cy="42245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740" y="2841223"/>
            <a:ext cx="54864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224"/>
                </a:solidFill>
              </a:rPr>
              <a:t>16.9%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22592" y="3609319"/>
            <a:ext cx="117043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680"/>
                </a:solidFill>
              </a:rPr>
              <a:t>4~6학년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3663086"/>
            <a:ext cx="3337560" cy="42245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29600" y="3663086"/>
            <a:ext cx="2993416" cy="42245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77880" y="3609319"/>
            <a:ext cx="54864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224"/>
                </a:solidFill>
              </a:rPr>
              <a:t>44.6%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2592" y="4377415"/>
            <a:ext cx="117043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680"/>
                </a:solidFill>
              </a:rPr>
              <a:t>중학교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4431182"/>
            <a:ext cx="3337560" cy="42245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29600" y="4431182"/>
            <a:ext cx="308738" cy="422452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93202" y="4377415"/>
            <a:ext cx="548640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224"/>
                </a:solidFill>
              </a:rPr>
              <a:t>4.6%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22592" y="5010912"/>
            <a:ext cx="4709160" cy="166420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22592" y="5010912"/>
            <a:ext cx="36576" cy="16642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68896" y="5138928"/>
            <a:ext cx="4489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고학년 40% 유지율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68896" y="5504688"/>
            <a:ext cx="448970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BEDC"/>
                </a:solidFill>
              </a:rPr>
              <a:t>일반적으로 학과 공부로 이탈하는 연령대가
전체의 40%를 차지  →  "한 번 믿으면 끝까지"
장기 신뢰 도장의 가장 강력한 마케팅 근거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3회차 컨설팅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2026.05.29  —  자립 실습 완료  ·  리뷰 성장 계획  ·  시스템 총정리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394960" cy="566928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5669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1155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관장님 자립 실습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35024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5분 루틴 완전 체득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755648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132380"/>
            <a:ext cx="329184" cy="32918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1847088"/>
            <a:ext cx="4663440" cy="46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젬스 3번  리뷰 답글 생성기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296972"/>
            <a:ext cx="4663440" cy="44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네이버 플레이스 기존 리뷰 답글 실제 등록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746857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105302"/>
            <a:ext cx="329184" cy="32918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2820009"/>
            <a:ext cx="4663440" cy="46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젬스 1번  인스타 포스팅 생성기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269894"/>
            <a:ext cx="4663440" cy="44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인스타그램 2번째 포스팅 업로드 · 품질 조정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719779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078224"/>
            <a:ext cx="329184" cy="32918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3792931"/>
            <a:ext cx="4663440" cy="46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5분 이내 완성 루틴 완전 체득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242816"/>
            <a:ext cx="4663440" cy="44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사진(1분) → 젬스 문구(2분) → 업로드(2분) = 5분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4692700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5051145"/>
            <a:ext cx="329184" cy="32918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765852"/>
            <a:ext cx="4663440" cy="46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네이버 플레이스 보완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215737"/>
            <a:ext cx="4663440" cy="44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무료체험 예약 + 네이버 톡톡 기능 추가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5665622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6024067"/>
            <a:ext cx="329184" cy="32918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5738774"/>
            <a:ext cx="4663440" cy="46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AI 홍보 이미지 생성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6188659"/>
            <a:ext cx="4663440" cy="44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챗GPT·제미나이 활용 초상권 보호 일러스트 제작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6638543"/>
            <a:ext cx="515721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16752" y="1005840"/>
            <a:ext cx="5715000" cy="5669280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16752" y="1005840"/>
            <a:ext cx="36576" cy="5669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11155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리뷰 30개 달성 실행 계획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1335024"/>
            <a:ext cx="5477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224"/>
                </a:solidFill>
              </a:rPr>
              <a:t>현재 13개 → 목표 30개  (3개월)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1792224"/>
            <a:ext cx="5477256" cy="329184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1792224"/>
            <a:ext cx="2373477" cy="329184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54496" y="18653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13개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1344" y="2194560"/>
            <a:ext cx="547725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344" y="2286000"/>
            <a:ext cx="5477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A2BB"/>
                </a:solidFill>
              </a:rPr>
              <a:t>최적 리뷰 요청 타이밍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2542032"/>
            <a:ext cx="36576" cy="9738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578608"/>
            <a:ext cx="5294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신규 등록 1개월 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056382"/>
            <a:ext cx="5294376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적응 완료 → 만족도 최고점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4" y="3534156"/>
            <a:ext cx="547725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3570732"/>
            <a:ext cx="36576" cy="9738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3607308"/>
            <a:ext cx="5294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승급 심사 직후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085082"/>
            <a:ext cx="5294376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성취감 최고조 → 긍정 리뷰 자연 유도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1344" y="4562856"/>
            <a:ext cx="547725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1344" y="4599432"/>
            <a:ext cx="36576" cy="9738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636008"/>
            <a:ext cx="5294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야간수련·이벤트 직후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113782"/>
            <a:ext cx="5294376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특별 경험 → 감동 공유 욕구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1344" y="5591556"/>
            <a:ext cx="547725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81344" y="5628132"/>
            <a:ext cx="36576" cy="9738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664708"/>
            <a:ext cx="5294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1224"/>
                </a:solidFill>
              </a:rPr>
              <a:t>학부모 감사 표현 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6142482"/>
            <a:ext cx="5294376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자발적 만족 → 최적 요청 타이밍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81344" y="6620256"/>
            <a:ext cx="547725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컨설팅 성과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Before → After  전후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039112" cy="384048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2" y="1005840"/>
            <a:ext cx="4215384" cy="384048"/>
          </a:xfrm>
          <a:prstGeom prst="rect">
            <a:avLst/>
          </a:prstGeom>
          <a:solidFill>
            <a:srgbClr val="80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BEFORE  컨설팅 이전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11696" y="1005840"/>
            <a:ext cx="4928616" cy="384048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AFTER  컨설팅 이후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89888"/>
            <a:ext cx="2039112" cy="1321308"/>
          </a:xfrm>
          <a:prstGeom prst="rect">
            <a:avLst/>
          </a:prstGeom>
          <a:solidFill>
            <a:srgbClr val="F3F7FD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58518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1224"/>
                </a:solidFill>
              </a:rPr>
              <a:t>네이버 플레이스
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1389888"/>
            <a:ext cx="4215384" cy="1321308"/>
          </a:xfrm>
          <a:prstGeom prst="rect">
            <a:avLst/>
          </a:prstGeom>
          <a:solidFill>
            <a:srgbClr val="FDEBEE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517904"/>
            <a:ext cx="4032504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운영 미흡
리뷰 댓글 無 · 소식 無 · 정보 불일치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87680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1696" y="1389888"/>
            <a:ext cx="4928616" cy="1321308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1517904"/>
            <a:ext cx="4745736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8C5C"/>
                </a:solidFill>
              </a:rPr>
              <a:t>전면 정비 완료
메뉴·콘텐츠·댓글·소식 업데이트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11196"/>
            <a:ext cx="2039112" cy="1321308"/>
          </a:xfrm>
          <a:prstGeom prst="rect">
            <a:avLst/>
          </a:prstGeom>
          <a:solidFill>
            <a:srgbClr val="F3F7FD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79826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1224"/>
                </a:solidFill>
              </a:rPr>
              <a:t>마케팅
문구 작성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2" y="2711196"/>
            <a:ext cx="4215384" cy="1321308"/>
          </a:xfrm>
          <a:prstGeom prst="rect">
            <a:avLst/>
          </a:prstGeom>
          <a:solidFill>
            <a:srgbClr val="FDEBEE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2839212"/>
            <a:ext cx="4032504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인스타/블로그 문구
자체 작성 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19811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1696" y="2711196"/>
            <a:ext cx="4928616" cy="1321308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2839212"/>
            <a:ext cx="4745736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8C5C"/>
                </a:solidFill>
              </a:rPr>
              <a:t>AI 젬스 3종 + 매뉴얼 제공
클릭 한 번으로 자동 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32504"/>
            <a:ext cx="2039112" cy="1321308"/>
          </a:xfrm>
          <a:prstGeom prst="rect">
            <a:avLst/>
          </a:prstGeom>
          <a:solidFill>
            <a:srgbClr val="F3F7FD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0113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1224"/>
                </a:solidFill>
              </a:rPr>
              <a:t>홍보물
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50592" y="4032504"/>
            <a:ext cx="4215384" cy="1321308"/>
          </a:xfrm>
          <a:prstGeom prst="rect">
            <a:avLst/>
          </a:prstGeom>
          <a:solidFill>
            <a:srgbClr val="FDEBEE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8608" y="4160520"/>
            <a:ext cx="4032504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홍보물 자체 제작
완전 불가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51942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11696" y="4032504"/>
            <a:ext cx="4928616" cy="1321308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4160520"/>
            <a:ext cx="4745736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8C5C"/>
                </a:solidFill>
              </a:rPr>
              <a:t>챗GPT·제미나이 활용
초상권 보호 일러스트 자유 제작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53812"/>
            <a:ext cx="2039112" cy="1321308"/>
          </a:xfrm>
          <a:prstGeom prst="rect">
            <a:avLst/>
          </a:prstGeom>
          <a:solidFill>
            <a:srgbClr val="F3F7FD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22442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1224"/>
                </a:solidFill>
              </a:rPr>
              <a:t>마케팅
실행 루틴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50592" y="5353812"/>
            <a:ext cx="4215384" cy="1321308"/>
          </a:xfrm>
          <a:prstGeom prst="rect">
            <a:avLst/>
          </a:prstGeom>
          <a:solidFill>
            <a:srgbClr val="FDEBEE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8608" y="5481828"/>
            <a:ext cx="4032504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마케팅 루틴 전무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84073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11696" y="5353812"/>
            <a:ext cx="4928616" cy="1321308"/>
          </a:xfrm>
          <a:prstGeom prst="rect">
            <a:avLst/>
          </a:prstGeom>
          <a:solidFill>
            <a:srgbClr val="EBFBF4"/>
          </a:solidFill>
          <a:ln w="5080">
            <a:solidFill>
              <a:srgbClr val="D8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712" y="5481828"/>
            <a:ext cx="4745736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8C5C"/>
                </a:solidFill>
              </a:rPr>
              <a:t>주 2회 10분 루틴 확립
촬영1분 + 젬스2분 + 업로드2분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자립형 마케팅 루틴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주 2회 10분 루틴  —  컨설팅 이후에도 지속 가능한 성장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123236" cy="2340864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2340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" y="1005840"/>
            <a:ext cx="2086660" cy="3657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78992"/>
            <a:ext cx="18854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1분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463040"/>
            <a:ext cx="18854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224"/>
                </a:solidFill>
              </a:rPr>
              <a:t>01
사진 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249424"/>
            <a:ext cx="188549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377440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수련 뒷모습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761488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시설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8724" y="1942185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5028" y="1005840"/>
            <a:ext cx="2123236" cy="2340864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5028" y="1005840"/>
            <a:ext cx="36576" cy="2340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1604" y="1005840"/>
            <a:ext cx="2086660" cy="3657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9620" y="1078992"/>
            <a:ext cx="18854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2분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9620" y="1463040"/>
            <a:ext cx="18854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224"/>
                </a:solidFill>
              </a:rPr>
              <a:t>02
젬스 문구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9620" y="2249424"/>
            <a:ext cx="188549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9620" y="2377440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인스타 텍스트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9620" y="2761488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해시태그 자동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6553" y="1942185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2857" y="1005840"/>
            <a:ext cx="2123236" cy="2340864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32857" y="1005840"/>
            <a:ext cx="36576" cy="2340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9433" y="1005840"/>
            <a:ext cx="2086660" cy="3657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7449" y="1078992"/>
            <a:ext cx="18854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2분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1463040"/>
            <a:ext cx="18854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224"/>
                </a:solidFill>
              </a:rPr>
              <a:t>03
업로드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97449" y="2249424"/>
            <a:ext cx="188549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7449" y="2377440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인스타그램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7449" y="2761488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포스팅 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4382" y="1942185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20686" y="1005840"/>
            <a:ext cx="2123236" cy="2340864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20686" y="1005840"/>
            <a:ext cx="36576" cy="2340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57262" y="1005840"/>
            <a:ext cx="2086660" cy="3657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85278" y="1078992"/>
            <a:ext cx="18854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수시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5278" y="1463040"/>
            <a:ext cx="18854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224"/>
                </a:solidFill>
              </a:rPr>
              <a:t>04
리뷰 요청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85278" y="2249424"/>
            <a:ext cx="188549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5278" y="2377440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젬스 2번 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5278" y="2761488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맞춤 카톡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2211" y="1942185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CA2BB"/>
                </a:solidFill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8515" y="1005840"/>
            <a:ext cx="2123236" cy="2340864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08515" y="1005840"/>
            <a:ext cx="36576" cy="2340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45091" y="1005840"/>
            <a:ext cx="2086660" cy="3657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73107" y="1078992"/>
            <a:ext cx="18854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</a:rPr>
              <a:t>즉시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3107" y="1463040"/>
            <a:ext cx="18854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1224"/>
                </a:solidFill>
              </a:rPr>
              <a:t>05
리뷰 답글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73107" y="2249424"/>
            <a:ext cx="188549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3107" y="2377440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젬스 3번 활용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3107" y="2761488"/>
            <a:ext cx="18854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680"/>
                </a:solidFill>
              </a:rPr>
              <a:t>자동 생성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11274552" cy="493776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3511296"/>
            <a:ext cx="36576" cy="4937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" y="3621024"/>
            <a:ext cx="1107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총 5분 이내 완성  —  스마트폰 하나로 전문적인 마케팅 콘텐츠 제작 가능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69664"/>
            <a:ext cx="2695194" cy="2505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169664"/>
            <a:ext cx="36576" cy="2505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279392"/>
            <a:ext cx="2457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네이버 플레이스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" y="4626864"/>
            <a:ext cx="243916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" y="4914290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4718304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정보 최신화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" y="5578754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5382768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리뷰 답글 등록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" y="6243218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" y="6047232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소식 게시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6986" y="4169664"/>
            <a:ext cx="2695194" cy="2505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16986" y="4169664"/>
            <a:ext cx="36576" cy="2505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81578" y="4279392"/>
            <a:ext cx="2457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인스타그램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81578" y="4626864"/>
            <a:ext cx="243916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81578" y="4914290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27882" y="4718304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주 2회 포스팅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81578" y="5578754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27882" y="5382768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해시태그 최적화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81578" y="6243218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27882" y="6047232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팔로워 소통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6772" y="4169664"/>
            <a:ext cx="2695194" cy="2505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6772" y="4169664"/>
            <a:ext cx="36576" cy="2505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41364" y="4279392"/>
            <a:ext cx="2457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리뷰 관리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41364" y="4626864"/>
            <a:ext cx="243916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41364" y="4914290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7668" y="4718304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개별 요청 발송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41364" y="5578754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87668" y="5382768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답글 즉시 등록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41364" y="6243218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87668" y="6047232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30개 목표 진행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36558" y="4169664"/>
            <a:ext cx="2695194" cy="2505456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36558" y="4169664"/>
            <a:ext cx="36576" cy="25054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01150" y="4279392"/>
            <a:ext cx="24574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224"/>
                </a:solidFill>
              </a:rPr>
              <a:t>환경개선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01150" y="4626864"/>
            <a:ext cx="2439162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01150" y="4914290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47454" y="4718304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계단·복도 청결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01150" y="5578754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47454" y="5382768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비포·애프터 기록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01150" y="6243218"/>
            <a:ext cx="54864" cy="54864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47454" y="6047232"/>
            <a:ext cx="2274570" cy="53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81224"/>
                </a:solidFill>
              </a:rPr>
              <a:t>학부모 첫인상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자립 시스템 총정리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컨설팅 종료 시점 구축 완료 현황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1274552" cy="80772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08532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078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네이버 플레이스 최적화 및 업데이트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371600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브랜드 통일·운영시간·소개글·사진·핵심 서비스 전면 정비 / 무료체험 예약 + 네이버 톡톡 추가 → 예비 관원 소통 채널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78152"/>
            <a:ext cx="1127455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78152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051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인스타그램 공식 채널 정상 가동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343912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공식 인스타그램 개설·프로필 구성·첫 포스팅 완료 / 관장님 직접 실습으로 지속 운영 역량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50464"/>
            <a:ext cx="11274552" cy="80772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50464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53156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30236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AI 젬스 4종 완전 체득 및 실습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3316224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인스타 포스팅 생성기 / 리뷰 요청 카톡 생성기 / 리뷰 답글 생성기 / AI 홍보이미지 생성 → 매뉴얼 제작·숙지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22776"/>
            <a:ext cx="1127455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22776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25468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995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주 2회 10분 마케팅 루틴 확립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288536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사진(1분) + 젬스(2분) + 업로드(2분) = 5분 루틴 / 외부 대행 없이 스스로 운영 가능한 자립형 마케팅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5088"/>
            <a:ext cx="11274552" cy="80772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95088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97780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4968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리뷰 30개 달성 단계별 실행 계획 수립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5260848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현재 13개 → 3개월 내 30개 목표 / 최적 타이밍별 요청 전략 / 젬스 2번 개별 맞춤 발송으로 자연스러운 리뷰 확보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67400"/>
            <a:ext cx="1127455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867400"/>
            <a:ext cx="36576" cy="807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6070092"/>
            <a:ext cx="402336" cy="402336"/>
          </a:xfrm>
          <a:prstGeom prst="rect">
            <a:avLst/>
          </a:prstGeom>
          <a:solidFill>
            <a:srgbClr val="0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5940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81224"/>
                </a:solidFill>
              </a:rPr>
              <a:t>환경개선 및 학부모 눈높이 소통 의지 제고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6233160"/>
            <a:ext cx="10561320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680"/>
                </a:solidFill>
              </a:rPr>
              <a:t>계단·복도 청결 환경개선 / 서울시 소상공인 지원사업 연계 시설개선 최대 300만원 지원 안내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81224"/>
                </a:solidFill>
              </a:rPr>
              <a:t>향후 제언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74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680"/>
                </a:solidFill>
              </a:rPr>
              <a:t>지속 가능성 및 성장 전략 제언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5554980" cy="217627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6576" cy="21762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1521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207008"/>
            <a:ext cx="47503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224"/>
                </a:solidFill>
              </a:rPr>
              <a:t>단톡방 유지 사후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591056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37360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컨설팅 팀과 단체 채팅방 유지로 추후 궁금증 즉시 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084832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지속적인 관리 및 피드백 제공 예정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005840"/>
            <a:ext cx="5554980" cy="217627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005840"/>
            <a:ext cx="36576" cy="21762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11521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5140" y="1207008"/>
            <a:ext cx="47503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224"/>
                </a:solidFill>
              </a:rPr>
              <a:t>WOM 입소문 마케팅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1364" y="1591056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1737360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컨설팅 수혜 업체가 주변 소상공인 대상으로 홍보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2084832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→ 추천제도 운영으로 선순환 생태계 구축 제언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46704"/>
            <a:ext cx="5554980" cy="217627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346704"/>
            <a:ext cx="36576" cy="21762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493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547872"/>
            <a:ext cx="47503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224"/>
                </a:solidFill>
              </a:rPr>
              <a:t>서울시 지원사업 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3931920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078224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서울특별시 소상공인 지원사업 활용 (seoulsbdc.or.kr)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425696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하반기 시설개선 최대 300만원 지원 활용 제언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6772" y="3346704"/>
            <a:ext cx="5554980" cy="2176272"/>
          </a:xfrm>
          <a:prstGeom prst="rect">
            <a:avLst/>
          </a:prstGeom>
          <a:solidFill>
            <a:srgbClr val="F3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6772" y="3346704"/>
            <a:ext cx="36576" cy="21762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1364" y="3493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5140" y="3547872"/>
            <a:ext cx="47503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81224"/>
                </a:solidFill>
              </a:rPr>
              <a:t>콘텐츠 자산 지속 축적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1364" y="3931920"/>
            <a:ext cx="5317236" cy="10058"/>
          </a:xfrm>
          <a:prstGeom prst="rect">
            <a:avLst/>
          </a:prstGeom>
          <a:solidFill>
            <a:srgbClr val="D8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1364" y="4078224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수련 사진·영상 꾸준한 기록 → 인스타·네이버 자산화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1364" y="4425696"/>
            <a:ext cx="53172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1224"/>
                </a:solidFill>
              </a:rPr>
              <a:t>"가랑비에 옷 젖듯이" 철학을 온라인에서도 실현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52160"/>
            <a:ext cx="11274552" cy="82296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852160"/>
            <a:ext cx="36576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5943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</a:rPr>
              <a:t>관장님 소회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6126480"/>
            <a:ext cx="11055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"태권도 학원들이 대체로 홍보 마케팅과 거리가 멀었는데, 3일 동안 완전히! 꼭 필요한 것을 너무나도 꽉꽉 채워주셨습니다.  감사합니다!"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71032" y="-2286000"/>
            <a:ext cx="8229600" cy="8229600"/>
          </a:xfrm>
          <a:prstGeom prst="ellipse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28632" y="3017520"/>
            <a:ext cx="5029200" cy="5029200"/>
          </a:xfrm>
          <a:prstGeom prst="ellipse">
            <a:avLst/>
          </a:prstGeom>
          <a:solidFill>
            <a:srgbClr val="13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658368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888B8"/>
                </a:solidFill>
              </a:rPr>
              <a:t>역삼효태권도장  온라인 마케팅 컨설팅 보고서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75888"/>
            <a:ext cx="36576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58444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EE8"/>
                </a:solidFill>
              </a:rPr>
              <a:t>네이버 플레이스 완전 최적화 및 브랜드 통일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78224"/>
            <a:ext cx="36576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98678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EE8"/>
                </a:solidFill>
              </a:rPr>
              <a:t>인스타그램 공식 채널 개설 및 첫 포스팅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36576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38912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EE8"/>
                </a:solidFill>
              </a:rPr>
              <a:t>AI 젬스 3종 자동화 시스템 완전 체득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82896"/>
            <a:ext cx="36576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EE8"/>
                </a:solidFill>
              </a:rPr>
              <a:t>주 2회 10분 마케팅 루틴 자립 시스템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85232"/>
            <a:ext cx="36576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19379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EE8"/>
                </a:solidFill>
              </a:rPr>
              <a:t>3개월 리뷰 30개 달성 단계별 실행 계획 수립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6583680" cy="62179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36576" cy="6217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5833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</a:rPr>
              <a:t>컨설팅 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603504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EE8"/>
                </a:solidFill>
              </a:rPr>
              <a:t>B그룹 5조  권용준 · 손미현  |  2026.05.26 – 2026.05.29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62025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CA2BB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