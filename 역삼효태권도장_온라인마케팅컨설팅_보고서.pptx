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85432" y="-1828800"/>
            <a:ext cx="6858000" cy="6858000"/>
          </a:xfrm>
          <a:prstGeom prst="ellipse">
            <a:avLst/>
          </a:prstGeom>
          <a:solidFill>
            <a:srgbClr val="0A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45752" y="3657600"/>
            <a:ext cx="4572000" cy="4572000"/>
          </a:xfrm>
          <a:prstGeom prst="ellipse">
            <a:avLst/>
          </a:prstGeom>
          <a:solidFill>
            <a:srgbClr val="081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71600" y="3931920"/>
            <a:ext cx="2743200" cy="2743200"/>
          </a:xfrm>
          <a:prstGeom prst="ellipse">
            <a:avLst/>
          </a:prstGeom>
          <a:solidFill>
            <a:srgbClr val="10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371600"/>
            <a:ext cx="2926080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소상공인 컨설팅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역삼효태권도장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3273552"/>
            <a:ext cx="9144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0A0CC"/>
                </a:solidFill>
              </a:rPr>
              <a:t>온라인 마케팅 진단  ·  자립형 마케팅 시스템 구축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3785615"/>
            <a:ext cx="64008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4005072"/>
            <a:ext cx="5852160" cy="2212848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" y="4005072"/>
            <a:ext cx="50292" cy="22128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4169663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A99CC"/>
                </a:solidFill>
              </a:rPr>
              <a:t>업 체 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4169663"/>
            <a:ext cx="4206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역삼효태권도장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35423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A99CC"/>
                </a:solidFill>
              </a:rPr>
              <a:t>대    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" y="4535423"/>
            <a:ext cx="4206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김형열 관장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901183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A99CC"/>
                </a:solidFill>
              </a:rPr>
              <a:t>컨설팅팀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" y="4901183"/>
            <a:ext cx="4206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B그룹 5조  권용준 · 손미현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266943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A99CC"/>
                </a:solidFill>
              </a:rPr>
              <a:t>기    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83664" y="5266943"/>
            <a:ext cx="4206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2026.05.26 – 2026.05.29  (3일 / 총 12시간)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632703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A99CC"/>
                </a:solidFill>
              </a:rPr>
              <a:t>테    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" y="5632703"/>
            <a:ext cx="4206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8EE"/>
                </a:solidFill>
              </a:rPr>
              <a:t>온라인 마케팅 진단 및 홍보 콘텐츠 솔루션 제공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Contents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5655564" cy="12207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115567"/>
            <a:ext cx="50292" cy="12207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442465"/>
            <a:ext cx="566928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1384126"/>
            <a:ext cx="47411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업체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1786462"/>
            <a:ext cx="47411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역삼효태권도장 기본 정보 및 관원 현황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1115567"/>
            <a:ext cx="5655564" cy="12207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1115567"/>
            <a:ext cx="50292" cy="12207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5644" y="1442465"/>
            <a:ext cx="566928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0588" y="1384126"/>
            <a:ext cx="47411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현황 진단 · 핵심 강점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0588" y="1786462"/>
            <a:ext cx="47411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온라인 마케팅 현황 분석 및 4대 강점 도출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519171"/>
            <a:ext cx="5655564" cy="12207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2519171"/>
            <a:ext cx="50292" cy="12207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846069"/>
            <a:ext cx="566928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2787730"/>
            <a:ext cx="47411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1회차 컨설팅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190066"/>
            <a:ext cx="47411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브랜드 포지셔닝 및 온라인 전략 수립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5916" y="2519171"/>
            <a:ext cx="5655564" cy="12207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5916" y="2519171"/>
            <a:ext cx="50292" cy="12207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5644" y="2846069"/>
            <a:ext cx="566928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0588" y="2787730"/>
            <a:ext cx="47411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2회차 컨설팅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0588" y="3190066"/>
            <a:ext cx="47411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네이버 플레이스 최적화 · AI 젬스 시스템 구축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3922775"/>
            <a:ext cx="5655564" cy="12207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" y="3922775"/>
            <a:ext cx="50292" cy="12207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249673"/>
            <a:ext cx="566928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" y="4191334"/>
            <a:ext cx="47411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3회차 컨설팅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" y="4593670"/>
            <a:ext cx="47411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자립 실습 완료 · 리뷰 성장 계획 · 총정리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5916" y="3922775"/>
            <a:ext cx="5655564" cy="12207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85916" y="3922775"/>
            <a:ext cx="50292" cy="12207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95644" y="4249673"/>
            <a:ext cx="566928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0588" y="4191334"/>
            <a:ext cx="47411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컨설팅 성과 비교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0588" y="4593670"/>
            <a:ext cx="47411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Before → After 전후 비교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5326379"/>
            <a:ext cx="5655564" cy="12207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" y="5326379"/>
            <a:ext cx="50292" cy="12207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653277"/>
            <a:ext cx="566928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" y="5594939"/>
            <a:ext cx="47411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자립형 마케팅 루틴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2144" y="5997275"/>
            <a:ext cx="47411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주 2회 10분 루틴 및 실행 로드맵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85916" y="5326379"/>
            <a:ext cx="5655564" cy="122072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5916" y="5326379"/>
            <a:ext cx="50292" cy="12207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95644" y="5653277"/>
            <a:ext cx="566928" cy="5669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0588" y="5594939"/>
            <a:ext cx="47411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향후 제언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0588" y="5997275"/>
            <a:ext cx="47411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지속가능성 및 성장 전략 제언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역삼효태권도장 기본 정보 및 운영 현황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5120640" cy="5431537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115567"/>
            <a:ext cx="50292" cy="5431537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207007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기본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1472183"/>
            <a:ext cx="1097280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명칭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1472183"/>
            <a:ext cx="3730752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역삼효태권도장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2056256"/>
            <a:ext cx="491947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111120"/>
            <a:ext cx="1097280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2111120"/>
            <a:ext cx="3730752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서울 강남구 역삼로 14길 18 2층
역삼역 3번 출구 858m  ·  역삼초 인근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2695193"/>
            <a:ext cx="491947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750057"/>
            <a:ext cx="1097280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영업시간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9344" y="2750057"/>
            <a:ext cx="3730752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월~금  12:00 – 20:00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3334130"/>
            <a:ext cx="491947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3388994"/>
            <a:ext cx="1097280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전화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9344" y="3388994"/>
            <a:ext cx="3730752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02-552-7582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" y="3973067"/>
            <a:ext cx="491947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027931"/>
            <a:ext cx="1097280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운영인력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9344" y="4027931"/>
            <a:ext cx="3730752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관장 김형열  +  사범  총 2명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4612004"/>
            <a:ext cx="491947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4666868"/>
            <a:ext cx="1097280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등록인원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9344" y="4666868"/>
            <a:ext cx="3730752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65명  (유치부 16 · 저학년 23 · 고학년 23 · 중등 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" y="5250941"/>
            <a:ext cx="491947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5305805"/>
            <a:ext cx="1097280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수강료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9344" y="5305805"/>
            <a:ext cx="3730752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주 3~4회  월 180,000원  /  주 5회  월 190,000원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5889878"/>
            <a:ext cx="491947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5944742"/>
            <a:ext cx="1097280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운영기간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9344" y="5944742"/>
            <a:ext cx="3730752" cy="638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12년  (인근 3년  +  현 위치 9년)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50992" y="1115567"/>
            <a:ext cx="619048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50992" y="1115567"/>
            <a:ext cx="50292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48272" y="1144827"/>
            <a:ext cx="5001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D1B3E"/>
                </a:solidFill>
              </a:rPr>
              <a:t>65명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48272" y="1353311"/>
            <a:ext cx="5001768" cy="11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등록 관원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79008" y="1181403"/>
            <a:ext cx="36576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50992" y="1664207"/>
            <a:ext cx="619048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50992" y="1664207"/>
            <a:ext cx="50292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48272" y="1693467"/>
            <a:ext cx="5001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D1B3E"/>
                </a:solidFill>
              </a:rPr>
              <a:t>12년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8272" y="1901951"/>
            <a:ext cx="5001768" cy="11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운영 경력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79008" y="1730043"/>
            <a:ext cx="36576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50992" y="2212847"/>
            <a:ext cx="6190488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50992" y="2212847"/>
            <a:ext cx="50292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48272" y="2242107"/>
            <a:ext cx="5001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D1B3E"/>
                </a:solidFill>
              </a:rPr>
              <a:t>6타임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48272" y="2450591"/>
            <a:ext cx="5001768" cy="11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일일 픽업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79008" y="2278683"/>
            <a:ext cx="36576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50992" y="2761487"/>
            <a:ext cx="6190488" cy="3785617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50992" y="2761487"/>
            <a:ext cx="50292" cy="3785617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79008" y="2852927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관원 구성 현황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9008" y="3081527"/>
            <a:ext cx="1664208" cy="386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유치부 (7세)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61504" y="3150289"/>
            <a:ext cx="4233672" cy="429768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61504" y="3150289"/>
            <a:ext cx="1042134" cy="4297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58502" y="3081527"/>
            <a:ext cx="1005840" cy="472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16명  24.6%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79008" y="3941063"/>
            <a:ext cx="1664208" cy="386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초등 저학년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61504" y="4009826"/>
            <a:ext cx="4233672" cy="429768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61504" y="4009826"/>
            <a:ext cx="1498068" cy="4297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14436" y="3941063"/>
            <a:ext cx="1005840" cy="472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23명  35.4%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79008" y="4800599"/>
            <a:ext cx="1664208" cy="386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초등 고학년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61504" y="4869362"/>
            <a:ext cx="4233672" cy="429768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61504" y="4869362"/>
            <a:ext cx="1498068" cy="4297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14436" y="4800599"/>
            <a:ext cx="1005840" cy="472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23명  35.4%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79008" y="5660135"/>
            <a:ext cx="1664208" cy="386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중학교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461504" y="5728898"/>
            <a:ext cx="4233672" cy="429768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461504" y="5728898"/>
            <a:ext cx="195400" cy="4297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11768" y="5660135"/>
            <a:ext cx="1005840" cy="472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3명  4.6%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현황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온라인 마케팅 인프라 및 강약점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5655564" cy="38404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115567"/>
            <a:ext cx="50292" cy="3840481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207007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문제 진단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1435607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</a:rPr>
              <a:t>마케팅 인프라 부족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1865375"/>
            <a:ext cx="5454396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2066543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75103"/>
            <a:ext cx="53263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네이버 플레이스 리뷰 단 13개 (기본 4 / 키워드 7 / 블로그 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802635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2711195"/>
            <a:ext cx="53263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브랜드명 혼재 — 역삼효태권도장 / 효태권도 병용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3538727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447287"/>
            <a:ext cx="53263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채널별 정보 불일치로 검색 신뢰도 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4274819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4183379"/>
            <a:ext cx="53263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온라인 신규 유입 구조 사실상 전무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5916" y="1115567"/>
            <a:ext cx="5655564" cy="3840481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5916" y="1115567"/>
            <a:ext cx="50292" cy="3840481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13932" y="1207007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문제 진단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3932" y="1435607"/>
            <a:ext cx="54543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</a:rPr>
              <a:t>디지털 활용 역량 저하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13932" y="1865375"/>
            <a:ext cx="5454396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13932" y="2066543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1948" y="1975103"/>
            <a:ext cx="53263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인스타그램 등 SNS 채널 업데이트 미흡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13932" y="2802635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1948" y="2711195"/>
            <a:ext cx="53263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홍보 콘텐츠 자체 제작 경험 부족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13932" y="3538727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1948" y="3447287"/>
            <a:ext cx="53263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학부모 디지털 소통 루틴 부재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13932" y="4274819"/>
            <a:ext cx="54864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1948" y="4183379"/>
            <a:ext cx="53263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마케팅 실행 루틴 전무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5138928"/>
            <a:ext cx="11494008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472" y="5138928"/>
            <a:ext cx="5029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52120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핵심 진단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" y="5394960"/>
            <a:ext cx="11292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오프라인 서비스 품질·학부모 만족도는 매우 높으나, 온라인 검색 결과와 신규 유입 구조로 연결되지 않고 있는 상태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5980176"/>
            <a:ext cx="2152497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0D1B3E"/>
                </a:solidFill>
              </a:rPr>
              <a:t>12년 장기 운영 신뢰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82849" y="5980176"/>
            <a:ext cx="2152497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0D1B3E"/>
                </a:solidFill>
              </a:rPr>
              <a:t>역삼초 6타임 무료 픽업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18227" y="5980176"/>
            <a:ext cx="2152497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0D1B3E"/>
                </a:solidFill>
              </a:rPr>
              <a:t>실시간 에듀패밀리 출결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53604" y="5980176"/>
            <a:ext cx="2152497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0D1B3E"/>
                </a:solidFill>
              </a:rPr>
              <a:t>정서적 유대 교육 철학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88982" y="5980176"/>
            <a:ext cx="2152497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0D1B3E"/>
                </a:solidFill>
              </a:rPr>
              <a:t>고학년 40% 유지율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21424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616952" y="-1371600"/>
            <a:ext cx="5943600" cy="5943600"/>
          </a:xfrm>
          <a:prstGeom prst="ellipse">
            <a:avLst/>
          </a:prstGeom>
          <a:solidFill>
            <a:srgbClr val="0A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011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411480"/>
            <a:ext cx="9144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4대 핵심 강점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13385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A99CC"/>
                </a:solidFill>
              </a:rPr>
              <a:t>컨설팅 현장 조사를 통해 도출된 역삼효태권도장의 독보적 경쟁력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1426464"/>
            <a:ext cx="54864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572768"/>
            <a:ext cx="2736342" cy="5010912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1572768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60854" y="166420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200" b="1" i="0">
                <a:solidFill>
                  <a:srgbClr val="1E3A6E"/>
                </a:solidFill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773936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139696"/>
            <a:ext cx="248031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완벽한 케어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" y="2670048"/>
            <a:ext cx="2480310" cy="27432"/>
          </a:xfrm>
          <a:prstGeom prst="rect">
            <a:avLst/>
          </a:prstGeom>
          <a:solidFill>
            <a:srgbClr val="2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3776" y="2871216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798064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역삼초 6타임 무료 픽업
(관장 직접 운행, 외주 無)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4133088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59936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실시간 에듀패밀리
출결 사진 전송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" y="5394960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5321808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맞벌이 학부모 안심
케어 시스템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66694" y="1572768"/>
            <a:ext cx="2736342" cy="5010912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66694" y="1572768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0076" y="166420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200" b="1" i="0">
                <a:solidFill>
                  <a:srgbClr val="1E3A6E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2998" y="1773936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2998" y="2139696"/>
            <a:ext cx="248031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모두가 주인공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12998" y="2670048"/>
            <a:ext cx="2480310" cy="27432"/>
          </a:xfrm>
          <a:prstGeom prst="rect">
            <a:avLst/>
          </a:prstGeom>
          <a:solidFill>
            <a:srgbClr val="2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12998" y="2871216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1014" y="2798064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시범단 위주가 아닌
전원 성장 수업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12998" y="4133088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41014" y="4059936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예절·체력·태권도·
생활지도 4축 체계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12998" y="5394960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1014" y="5321808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60분 체계적 수업 설계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5916" y="1572768"/>
            <a:ext cx="2736342" cy="5010912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85916" y="1572768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9298" y="166420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200" b="1" i="0">
                <a:solidFill>
                  <a:srgbClr val="1E3A6E"/>
                </a:solidFill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2220" y="1773936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2220" y="2139696"/>
            <a:ext cx="248031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통합 교육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32220" y="2670048"/>
            <a:ext cx="2480310" cy="27432"/>
          </a:xfrm>
          <a:prstGeom prst="rect">
            <a:avLst/>
          </a:prstGeom>
          <a:solidFill>
            <a:srgbClr val="2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32220" y="2871216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60236" y="2798064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기초체력 / 학교체육
/ 태권도 / 생활지도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32220" y="4133088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60236" y="4059936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정서적 유대 기반
교육 철학 운영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32220" y="5394960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5321808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개인 맞춤 성장 지도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05138" y="1572768"/>
            <a:ext cx="2736342" cy="5010912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05138" y="1572768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18520" y="1664208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200" b="1" i="0">
                <a:solidFill>
                  <a:srgbClr val="1E3A6E"/>
                </a:solidFill>
              </a:rP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51442" y="1773936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51442" y="2139696"/>
            <a:ext cx="248031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12년의 신뢰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51442" y="2670048"/>
            <a:ext cx="2480310" cy="27432"/>
          </a:xfrm>
          <a:prstGeom prst="rect">
            <a:avLst/>
          </a:prstGeom>
          <a:solidFill>
            <a:srgbClr val="2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251442" y="2871216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79458" y="2798064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졸업 후에도 찾아오는
검증된 교육력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51442" y="4133088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9458" y="4059936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고학년·중등 비율 40%
(장기 신뢰 객관적 증거)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51442" y="5394960"/>
            <a:ext cx="4572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79458" y="5321808"/>
            <a:ext cx="237058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"가랑비에 옷 젖듯이"
서두르지 않는 철학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1회차 컨설팅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2026.05.26  —  브랜드 포지셔닝 및 온라인 전략 수립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11494008" cy="7132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115567"/>
            <a:ext cx="50292" cy="7132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1887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메인 포지셔닝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1389887"/>
            <a:ext cx="11292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"아이의 마음까지 책임지는  12년 신뢰"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2011679"/>
            <a:ext cx="5303520" cy="45354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2011679"/>
            <a:ext cx="50292" cy="45354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103119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브랜드 전략 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2395727"/>
            <a:ext cx="1188720" cy="418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핵심 타깃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395727"/>
            <a:ext cx="3785616" cy="753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A"/>
                </a:solidFill>
              </a:rPr>
              <a:t>역삼동 맞벌이 학부모 (안심 케어 + 정서적 성장 동시 요구)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3369563"/>
            <a:ext cx="510235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3442715"/>
            <a:ext cx="1188720" cy="418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브랜드 통일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442715"/>
            <a:ext cx="3785616" cy="753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A"/>
                </a:solidFill>
              </a:rPr>
              <a:t>모든 채널 「역삼효태권도장 / 02-552-7582」 완전 일원화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4416551"/>
            <a:ext cx="510235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4489703"/>
            <a:ext cx="1188720" cy="418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주요 채널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489703"/>
            <a:ext cx="3785616" cy="753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A"/>
                </a:solidFill>
              </a:rPr>
              <a:t>네이버 플레이스 최적화  +  인스타그램 주 2회 10분 루틴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463539"/>
            <a:ext cx="510235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536691"/>
            <a:ext cx="1188720" cy="418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핵심 메시지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536691"/>
            <a:ext cx="3785616" cy="753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A"/>
                </a:solidFill>
              </a:rPr>
              <a:t>"가랑비에 옷 젖듯이"  서두르지 않는 12년 교육 철학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3872" y="2011679"/>
            <a:ext cx="6007608" cy="4535425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33872" y="2011679"/>
            <a:ext cx="50292" cy="45354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2103119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1회차 수행 프로세스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61888" y="2359151"/>
            <a:ext cx="548640" cy="9555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61888" y="2645815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102E"/>
                </a:solidFill>
              </a:rPr>
              <a:t>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10528" y="2359151"/>
            <a:ext cx="5257800" cy="9555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8544" y="2414015"/>
            <a:ext cx="5093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D1B3E"/>
                </a:solidFill>
              </a:rPr>
              <a:t>온라인 현황 진단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38544" y="2688335"/>
            <a:ext cx="5093208" cy="608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네이버 플레이스 리뷰 현황
브랜드명 혼재 및 채널 불일치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61888" y="3406139"/>
            <a:ext cx="548640" cy="9555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1888" y="3692803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102E"/>
                </a:solidFill>
              </a:rPr>
              <a:t>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0528" y="3406139"/>
            <a:ext cx="5257800" cy="9555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38544" y="3461003"/>
            <a:ext cx="5093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D1B3E"/>
                </a:solidFill>
              </a:rPr>
              <a:t>교육 철학·핵심 강점 도출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735323"/>
            <a:ext cx="5093208" cy="608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12년 운영 신뢰도
정서적 유대 기반 교육 정신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61888" y="4453127"/>
            <a:ext cx="548640" cy="9555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4739791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102E"/>
                </a:solidFill>
              </a:rPr>
              <a:t>03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10528" y="4453127"/>
            <a:ext cx="5257800" cy="9555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38544" y="4507991"/>
            <a:ext cx="5093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D1B3E"/>
                </a:solidFill>
              </a:rPr>
              <a:t>4대 핵심 강점 정의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38544" y="4782311"/>
            <a:ext cx="5093208" cy="608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완벽한 케어 / 모두가 주인공
통합 교육 / 12년의 신뢰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61888" y="5500115"/>
            <a:ext cx="548640" cy="9555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61888" y="5786780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10528" y="5500115"/>
            <a:ext cx="5257800" cy="9555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38544" y="5554979"/>
            <a:ext cx="5093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D1B3E"/>
                </a:solidFill>
              </a:rPr>
              <a:t>브랜드 포지셔닝 확정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38544" y="5829299"/>
            <a:ext cx="5093208" cy="608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메인 포지셔닝 및 타깃 설정
채널 전략 로드맵 수립·공유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네이버 플레이스 전면 최적화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2회차 컨설팅 2026.05.28  —  검색 최적화 완전 정비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201168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1115567"/>
            <a:ext cx="26060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변경 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1115567"/>
            <a:ext cx="3675887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변경 후  (최적화 완료)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96528" y="1115567"/>
            <a:ext cx="297180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효과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1499615"/>
            <a:ext cx="20116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572767"/>
            <a:ext cx="18836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1B3E"/>
                </a:solidFill>
              </a:rPr>
              <a:t>공식 상호
및 번호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23160" y="1499615"/>
            <a:ext cx="26060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1572767"/>
            <a:ext cx="24780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상호명·번호 미통일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499615"/>
            <a:ext cx="3675887" cy="841248"/>
          </a:xfrm>
          <a:prstGeom prst="rect">
            <a:avLst/>
          </a:prstGeom>
          <a:solidFill>
            <a:srgbClr val="EDFBF4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1572767"/>
            <a:ext cx="3547871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7A3E"/>
                </a:solidFill>
              </a:rPr>
              <a:t>역삼효태권도장 / 02-552-7582
완전 통일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96528" y="1499615"/>
            <a:ext cx="2971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87968" y="1572767"/>
            <a:ext cx="284378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검색 정확도↑
브랜드 신뢰도↑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2340863"/>
            <a:ext cx="2011680" cy="8412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414015"/>
            <a:ext cx="18836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1B3E"/>
                </a:solidFill>
              </a:rPr>
              <a:t>영업 정보
상태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2340863"/>
            <a:ext cx="2606040" cy="8412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2414015"/>
            <a:ext cx="24780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운영시간 미입력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4920" y="2340863"/>
            <a:ext cx="3675887" cy="841248"/>
          </a:xfrm>
          <a:prstGeom prst="rect">
            <a:avLst/>
          </a:prstGeom>
          <a:solidFill>
            <a:srgbClr val="EDFBF4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360" y="2414015"/>
            <a:ext cx="3547871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7A3E"/>
                </a:solidFill>
              </a:rPr>
              <a:t>평일 12:00~20:00 입력
상담 유도 시간 적용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96528" y="2340863"/>
            <a:ext cx="2971800" cy="8412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7968" y="2414015"/>
            <a:ext cx="284378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상담 전환율↑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3182111"/>
            <a:ext cx="20116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255263"/>
            <a:ext cx="18836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1B3E"/>
                </a:solidFill>
              </a:rPr>
              <a:t>브랜드
소개글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23160" y="3182111"/>
            <a:ext cx="26060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3255263"/>
            <a:ext cx="24780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단순 텍스트 / 매력 미흡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74920" y="3182111"/>
            <a:ext cx="3675887" cy="841248"/>
          </a:xfrm>
          <a:prstGeom prst="rect">
            <a:avLst/>
          </a:prstGeom>
          <a:solidFill>
            <a:srgbClr val="EDFBF4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66360" y="3255263"/>
            <a:ext cx="3547871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7A3E"/>
                </a:solidFill>
              </a:rPr>
              <a:t>"가랑비에 옷 젖듯이..." 12년 철학
+ 무료픽업 + 출결앱 키워드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96528" y="3182111"/>
            <a:ext cx="2971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87968" y="3255263"/>
            <a:ext cx="284378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감성 신뢰 형성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4023359"/>
            <a:ext cx="2011680" cy="8412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4096511"/>
            <a:ext cx="18836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1B3E"/>
                </a:solidFill>
              </a:rPr>
              <a:t>시각 자료
구성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23160" y="4023359"/>
            <a:ext cx="2606040" cy="8412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14600" y="4096511"/>
            <a:ext cx="24780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도장 사진 등록 부족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4920" y="4023359"/>
            <a:ext cx="3675887" cy="841248"/>
          </a:xfrm>
          <a:prstGeom prst="rect">
            <a:avLst/>
          </a:prstGeom>
          <a:solidFill>
            <a:srgbClr val="EDFBF4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60" y="4096511"/>
            <a:ext cx="3547871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7A3E"/>
                </a:solidFill>
              </a:rPr>
              <a:t>수련·시설·픽업 사진
신규 업로드 완료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96528" y="4023359"/>
            <a:ext cx="2971800" cy="841248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87968" y="4096511"/>
            <a:ext cx="284378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첫인상 신뢰도↑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4864607"/>
            <a:ext cx="20116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937759"/>
            <a:ext cx="18836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1B3E"/>
                </a:solidFill>
              </a:rPr>
              <a:t>핵심 서비스
노출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23160" y="4864607"/>
            <a:ext cx="26060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14600" y="4937759"/>
            <a:ext cx="24780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핵심 강점 기능 미노출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4920" y="4864607"/>
            <a:ext cx="3675887" cy="841248"/>
          </a:xfrm>
          <a:prstGeom prst="rect">
            <a:avLst/>
          </a:prstGeom>
          <a:solidFill>
            <a:srgbClr val="EDFBF4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66360" y="4937759"/>
            <a:ext cx="3547871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47A3E"/>
                </a:solidFill>
              </a:rPr>
              <a:t>무료픽업·야간수련·에듀패밀리
안심케어·체력강화 등록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96528" y="4864607"/>
            <a:ext cx="2971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87968" y="4937759"/>
            <a:ext cx="284378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검색 노출↑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7472" y="5888736"/>
            <a:ext cx="11494008" cy="47548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47472" y="5888736"/>
            <a:ext cx="50292" cy="4754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59618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추가 완료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5488" y="6144768"/>
            <a:ext cx="11292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무료체험 예약 + 네이버 톡톡 기능 추가 → 예비 관원 학부모 소통 편의성 제고 · 전방위 마케팅 활용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21424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74152" y="-1097280"/>
            <a:ext cx="5303520" cy="5303520"/>
          </a:xfrm>
          <a:prstGeom prst="ellipse">
            <a:avLst/>
          </a:prstGeom>
          <a:solidFill>
            <a:srgbClr val="0A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011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41148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AI 젬스  자동화 시스템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11556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A99CC"/>
                </a:solidFill>
              </a:rPr>
              <a:t>제미나이 젬스(Gemini Gems) 3종 + AI 홍보이미지 → 완전 자립형 마케팅 시스템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1408176"/>
            <a:ext cx="54864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554480"/>
            <a:ext cx="2736342" cy="5029200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1554480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1554480"/>
            <a:ext cx="2736342" cy="438912"/>
          </a:xfrm>
          <a:prstGeom prst="rect">
            <a:avLst/>
          </a:prstGeom>
          <a:solidFill>
            <a:srgbClr val="1A3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GEMS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645920"/>
            <a:ext cx="25168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</a:rPr>
              <a:t>GEMS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103120"/>
            <a:ext cx="251688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인스타
포스팅 생성기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" y="2944368"/>
            <a:ext cx="2480310" cy="27432"/>
          </a:xfrm>
          <a:prstGeom prst="rect">
            <a:avLst/>
          </a:prstGeom>
          <a:solidFill>
            <a:srgbClr val="2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063240"/>
            <a:ext cx="251688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</a:rPr>
              <a:t>사진만 넣으면 인스타 텍스트 + 해시태그 자동 생성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5669280"/>
            <a:ext cx="2736342" cy="9144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5669280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5760720"/>
            <a:ext cx="251688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주 2회 포스팅
5분 이내 완성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66694" y="1554480"/>
            <a:ext cx="2736342" cy="5029200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66694" y="1554480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66694" y="1554480"/>
            <a:ext cx="2736342" cy="438912"/>
          </a:xfrm>
          <a:prstGeom prst="rect">
            <a:avLst/>
          </a:prstGeom>
          <a:solidFill>
            <a:srgbClr val="1A3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GEMS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2998" y="1645920"/>
            <a:ext cx="25168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</a:rPr>
              <a:t>GEMS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2998" y="2103120"/>
            <a:ext cx="251688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리뷰 요청
카톡 생성기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2998" y="2944368"/>
            <a:ext cx="2480310" cy="27432"/>
          </a:xfrm>
          <a:prstGeom prst="rect">
            <a:avLst/>
          </a:prstGeom>
          <a:solidFill>
            <a:srgbClr val="2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2998" y="3063240"/>
            <a:ext cx="251688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</a:rPr>
              <a:t>학부모에게 부담 없는 개인 맞춤 리뷰 요청 메시지 자동 작성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66694" y="5669280"/>
            <a:ext cx="2736342" cy="9144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66694" y="5669280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12998" y="5760720"/>
            <a:ext cx="251688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3개월 30개
달성 핵심 도구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85916" y="1554480"/>
            <a:ext cx="2736342" cy="5029200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85916" y="1554480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5916" y="1554480"/>
            <a:ext cx="2736342" cy="438912"/>
          </a:xfrm>
          <a:prstGeom prst="rect">
            <a:avLst/>
          </a:prstGeom>
          <a:solidFill>
            <a:srgbClr val="1A3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GEMS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2220" y="1645920"/>
            <a:ext cx="25168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</a:rPr>
              <a:t>GEMS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2220" y="2103120"/>
            <a:ext cx="251688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리뷰 답글
생성기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32220" y="2944368"/>
            <a:ext cx="2480310" cy="27432"/>
          </a:xfrm>
          <a:prstGeom prst="rect">
            <a:avLst/>
          </a:prstGeom>
          <a:solidFill>
            <a:srgbClr val="2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32220" y="3063240"/>
            <a:ext cx="251688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</a:rPr>
              <a:t>네이버 플레이스 리뷰 입력 시 전문적인 감사 답글 자동 생성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5916" y="5669280"/>
            <a:ext cx="2736342" cy="9144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5916" y="5669280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2220" y="5760720"/>
            <a:ext cx="251688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응답률 100%
신뢰도 제고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05138" y="1554480"/>
            <a:ext cx="2736342" cy="5029200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05138" y="1554480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05138" y="1554480"/>
            <a:ext cx="2736342" cy="438912"/>
          </a:xfrm>
          <a:prstGeom prst="rect">
            <a:avLst/>
          </a:prstGeom>
          <a:solidFill>
            <a:srgbClr val="1A3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>AI 이미지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1442" y="1645920"/>
            <a:ext cx="25168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</a:rPr>
              <a:t>AI 이미지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51442" y="2103120"/>
            <a:ext cx="251688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홍보 이미지
생성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51442" y="2944368"/>
            <a:ext cx="2480310" cy="27432"/>
          </a:xfrm>
          <a:prstGeom prst="rect">
            <a:avLst/>
          </a:prstGeom>
          <a:solidFill>
            <a:srgbClr val="2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51442" y="3063240"/>
            <a:ext cx="251688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</a:rPr>
              <a:t>챗GPT·제미나이 활용 아이 초상권 보호 일러스트 제작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05138" y="5669280"/>
            <a:ext cx="2736342" cy="91440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05138" y="5669280"/>
            <a:ext cx="273634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51442" y="5760720"/>
            <a:ext cx="251688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홍보물 외주비
절감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관원 구성 데이터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출석부 기반 연령별 분석 → 마케팅 타깃 전략 반영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6492240" cy="5431537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115567"/>
            <a:ext cx="50292" cy="5431537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207007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연령별 관원 현황 (총 65명)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1444751"/>
            <a:ext cx="1444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연령대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104" y="1444751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인원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1444751"/>
            <a:ext cx="6949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비율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444751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마케팅 포인트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1737359"/>
            <a:ext cx="629107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1792223"/>
            <a:ext cx="1444752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1847087"/>
            <a:ext cx="137160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7세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75104" y="1792223"/>
            <a:ext cx="822960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9968" y="1847087"/>
            <a:ext cx="749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10명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1792223"/>
            <a:ext cx="694944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9504" y="1847087"/>
            <a:ext cx="621792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15.4%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1792223"/>
            <a:ext cx="3108960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21024" y="1847087"/>
            <a:ext cx="3035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초등 입학 준비 전문성 어필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2584703"/>
            <a:ext cx="1444752" cy="792480"/>
          </a:xfrm>
          <a:prstGeom prst="rect">
            <a:avLst/>
          </a:prstGeom>
          <a:solidFill>
            <a:srgbClr val="FFFFFF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2639567"/>
            <a:ext cx="137160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1·2학년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75104" y="2584703"/>
            <a:ext cx="822960" cy="792480"/>
          </a:xfrm>
          <a:prstGeom prst="rect">
            <a:avLst/>
          </a:prstGeom>
          <a:solidFill>
            <a:srgbClr val="FFFFFF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29968" y="2639567"/>
            <a:ext cx="749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12명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2584703"/>
            <a:ext cx="694944" cy="792480"/>
          </a:xfrm>
          <a:prstGeom prst="rect">
            <a:avLst/>
          </a:prstGeom>
          <a:solidFill>
            <a:srgbClr val="FFFFFF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9504" y="2639567"/>
            <a:ext cx="621792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18.5%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66160" y="2584703"/>
            <a:ext cx="3108960" cy="792480"/>
          </a:xfrm>
          <a:prstGeom prst="rect">
            <a:avLst/>
          </a:prstGeom>
          <a:solidFill>
            <a:srgbClr val="FFFFFF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21024" y="2639567"/>
            <a:ext cx="3035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기초 체력 형성기 집중 케어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3377183"/>
            <a:ext cx="1444752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3432047"/>
            <a:ext cx="137160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3학년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75104" y="3377183"/>
            <a:ext cx="822960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29968" y="3432047"/>
            <a:ext cx="749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11명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34640" y="3377183"/>
            <a:ext cx="694944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89504" y="3432047"/>
            <a:ext cx="621792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16.9%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66160" y="3377183"/>
            <a:ext cx="3108960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21024" y="3432047"/>
            <a:ext cx="3035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기초 체력 단단한 허리층 타깃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" y="4169663"/>
            <a:ext cx="1444752" cy="792480"/>
          </a:xfrm>
          <a:prstGeom prst="rect">
            <a:avLst/>
          </a:prstGeom>
          <a:solidFill>
            <a:srgbClr val="FFFFFF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" y="4224527"/>
            <a:ext cx="137160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4·5·6학년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75104" y="4169663"/>
            <a:ext cx="822960" cy="792480"/>
          </a:xfrm>
          <a:prstGeom prst="rect">
            <a:avLst/>
          </a:prstGeom>
          <a:solidFill>
            <a:srgbClr val="FFFFFF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29968" y="4224527"/>
            <a:ext cx="749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29명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34640" y="4169663"/>
            <a:ext cx="694944" cy="792480"/>
          </a:xfrm>
          <a:prstGeom prst="rect">
            <a:avLst/>
          </a:prstGeom>
          <a:solidFill>
            <a:srgbClr val="FFFFFF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889504" y="4224527"/>
            <a:ext cx="621792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44.6%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66160" y="4169663"/>
            <a:ext cx="3108960" cy="792480"/>
          </a:xfrm>
          <a:prstGeom prst="rect">
            <a:avLst/>
          </a:prstGeom>
          <a:solidFill>
            <a:srgbClr val="FFFFFF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21024" y="4224527"/>
            <a:ext cx="3035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학교 체육·교우관계 연계 부각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5488" y="4962143"/>
            <a:ext cx="1444752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0352" y="5017007"/>
            <a:ext cx="137160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8102E"/>
                </a:solidFill>
              </a:rPr>
              <a:t>중학교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75104" y="4962143"/>
            <a:ext cx="822960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9968" y="5017007"/>
            <a:ext cx="749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3명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34640" y="4962143"/>
            <a:ext cx="694944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89504" y="5017007"/>
            <a:ext cx="621792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E2A3A"/>
                </a:solidFill>
              </a:rPr>
              <a:t>4.6%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66160" y="4962143"/>
            <a:ext cx="3108960" cy="792480"/>
          </a:xfrm>
          <a:prstGeom prst="rect">
            <a:avLst/>
          </a:prstGeom>
          <a:solidFill>
            <a:srgbClr val="EAF0F8"/>
          </a:solidFill>
          <a:ln w="508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21024" y="5017007"/>
            <a:ext cx="3035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장기 신뢰 극대화 유지 전략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5754623"/>
            <a:ext cx="1444752" cy="792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5809487"/>
            <a:ext cx="137160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합계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75104" y="5754623"/>
            <a:ext cx="822960" cy="792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29968" y="5809487"/>
            <a:ext cx="749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65명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834640" y="5754623"/>
            <a:ext cx="694944" cy="792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89504" y="5809487"/>
            <a:ext cx="621792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66160" y="5754623"/>
            <a:ext cx="3108960" cy="792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21024" y="5809487"/>
            <a:ext cx="3035808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역삼동 중심가 안정적 운영 증명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22592" y="1115567"/>
            <a:ext cx="4818888" cy="5431537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022592" y="1115567"/>
            <a:ext cx="50292" cy="5431537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0608" y="1207007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연령별 비율 시각화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0608" y="1513660"/>
            <a:ext cx="128016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7세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39912" y="1557953"/>
            <a:ext cx="3255264" cy="348020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439912" y="1557953"/>
            <a:ext cx="1016703" cy="3480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11479" y="1513660"/>
            <a:ext cx="54864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15.4%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50608" y="2146425"/>
            <a:ext cx="128016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1·2학년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39912" y="2190718"/>
            <a:ext cx="3255264" cy="348020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439912" y="2190718"/>
            <a:ext cx="1221364" cy="3480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716140" y="2146425"/>
            <a:ext cx="54864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18.5%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50608" y="2779190"/>
            <a:ext cx="128016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3학년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39912" y="2823483"/>
            <a:ext cx="3255264" cy="348020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439912" y="2823483"/>
            <a:ext cx="1115732" cy="3480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610508" y="2779190"/>
            <a:ext cx="54864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16.9%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50608" y="3411955"/>
            <a:ext cx="128016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4~6학년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39912" y="3456248"/>
            <a:ext cx="3255264" cy="348020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439912" y="3456248"/>
            <a:ext cx="2944477" cy="3480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439253" y="3411955"/>
            <a:ext cx="54864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44.6%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50608" y="4044720"/>
            <a:ext cx="128016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</a:rPr>
              <a:t>중학교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39912" y="4089013"/>
            <a:ext cx="3255264" cy="348020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439912" y="4089013"/>
            <a:ext cx="303690" cy="3480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98466" y="4044720"/>
            <a:ext cx="548640" cy="379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A3A"/>
                </a:solidFill>
              </a:rPr>
              <a:t>4.6%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150608" y="4809744"/>
            <a:ext cx="4617720" cy="17373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150608" y="4809744"/>
            <a:ext cx="45720" cy="1737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278624" y="4937760"/>
            <a:ext cx="4434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고학년 40% 유지율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78624" y="5340096"/>
            <a:ext cx="443484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CCEE"/>
                </a:solidFill>
              </a:rPr>
              <a:t>일반적으로 학과 공부로 이탈하는 연령대가 전체의 40%를 차지
→ "한 번 믿으면 끝까지" 장기 신뢰 도장의 가장 강력한 객관적 마케팅 근거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3회차 컨설팅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2026.05.29  —  자립 실습 완료 · 리뷰 성장 계획 · 시스템 총정리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5486400" cy="5431537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115567"/>
            <a:ext cx="50292" cy="5431537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207007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관장님 자립 실습 완료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1444751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5분 루틴 완전 체득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1865375"/>
            <a:ext cx="528523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" y="2105313"/>
            <a:ext cx="109728" cy="10972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1956815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2A3A"/>
                </a:solidFill>
              </a:rPr>
              <a:t>젬스 3번  리뷰 답글 생성기 활용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2355164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네이버 플레이스 기존 리뷰 답글 실제 등록 완료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2809036"/>
            <a:ext cx="528523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030686"/>
            <a:ext cx="109728" cy="10972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882188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2A3A"/>
                </a:solidFill>
              </a:rPr>
              <a:t>젬스 1번  인스타 포스팅 생성기 활용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3280537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인스타그램 2번째 포스팅 업로드 · 품질 조정 완료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734409"/>
            <a:ext cx="528523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3956059"/>
            <a:ext cx="109728" cy="10972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807561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2A3A"/>
                </a:solidFill>
              </a:rPr>
              <a:t>5분 이내 완성 루틴 완전 체득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" y="4205910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사진(1분) → 젬스 문구(2분) → 업로드(2분) = 5분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4659782"/>
            <a:ext cx="528523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" y="4881432"/>
            <a:ext cx="109728" cy="10972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" y="4732934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2A3A"/>
                </a:solidFill>
              </a:rPr>
              <a:t>네이버 플레이스 보완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" y="5131283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무료체험 예약 + 네이버 톡톡 기능 추가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" y="5585155"/>
            <a:ext cx="528523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5488" y="5806805"/>
            <a:ext cx="109728" cy="10972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5658307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2A3A"/>
                </a:solidFill>
              </a:rPr>
              <a:t>AI 홍보 이미지 생성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" y="6056656"/>
            <a:ext cx="5029200" cy="416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챗GPT·제미나이 활용 초상권 보호 일러스트 제작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16752" y="1115567"/>
            <a:ext cx="5824728" cy="5431537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16752" y="1115567"/>
            <a:ext cx="50292" cy="5431537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4768" y="1207007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리뷰 30개 달성 실행 계획 (3개월)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1444751"/>
            <a:ext cx="5623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현재 13개 → 목표 30개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4768" y="1901951"/>
            <a:ext cx="5623560" cy="384048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44768" y="1901951"/>
            <a:ext cx="2436876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1993391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13개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1993391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</a:rPr>
              <a:t>목표 30개 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2359151"/>
            <a:ext cx="5623560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2450591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A4AE"/>
                </a:solidFill>
              </a:rPr>
              <a:t>최적 리뷰 요청 타이밍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4768" y="2779775"/>
            <a:ext cx="45720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2816351"/>
            <a:ext cx="5404104" cy="45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2A3A"/>
                </a:solidFill>
              </a:rPr>
              <a:t>신규 등록 1개월 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250691"/>
            <a:ext cx="5404104" cy="42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적응 완료 → 만족도 최고점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44768" y="3685031"/>
            <a:ext cx="5623560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4768" y="3721607"/>
            <a:ext cx="45720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758183"/>
            <a:ext cx="5404104" cy="45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2A3A"/>
                </a:solidFill>
              </a:rPr>
              <a:t>승급 심사 직후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192523"/>
            <a:ext cx="5404104" cy="42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성취감 최고조 → 긍정 리뷰 자연 유도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44768" y="4626863"/>
            <a:ext cx="5623560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44768" y="4663439"/>
            <a:ext cx="45720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4700015"/>
            <a:ext cx="5404104" cy="45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2A3A"/>
                </a:solidFill>
              </a:rPr>
              <a:t>야간수련·이벤트 직후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134355"/>
            <a:ext cx="5404104" cy="42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특별 경험 → 감동 공유 욕구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44768" y="5568695"/>
            <a:ext cx="5623560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44768" y="5605271"/>
            <a:ext cx="45720" cy="8686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9360" y="5641847"/>
            <a:ext cx="5404104" cy="452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E2A3A"/>
                </a:solidFill>
              </a:rPr>
              <a:t>학부모 감사 표현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6076187"/>
            <a:ext cx="5404104" cy="42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자발적 만족 → 최적 요청 타이밍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컨설팅 성과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Before → After  전후 비교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2075688" cy="40233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7168" y="1115567"/>
            <a:ext cx="4178808" cy="402336"/>
          </a:xfrm>
          <a:prstGeom prst="rect">
            <a:avLst/>
          </a:prstGeom>
          <a:solidFill>
            <a:srgbClr val="8A0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BEFORE  컨설팅 이전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1696" y="1115567"/>
            <a:ext cx="5056632" cy="402336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AFTER  컨설팅 이후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1517903"/>
            <a:ext cx="2075688" cy="1120140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895093"/>
            <a:ext cx="19385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3E"/>
                </a:solidFill>
              </a:rPr>
              <a:t>네이버 플레이스
운영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7168" y="1517903"/>
            <a:ext cx="4178808" cy="1120140"/>
          </a:xfrm>
          <a:prstGeom prst="rect">
            <a:avLst/>
          </a:prstGeom>
          <a:solidFill>
            <a:srgbClr val="FDEEF1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4328" y="1645919"/>
            <a:ext cx="397764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운영 미흡
리뷰 댓글·소식·정보 불일치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895093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0A4AE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11696" y="1517903"/>
            <a:ext cx="5056632" cy="1120140"/>
          </a:xfrm>
          <a:prstGeom prst="rect">
            <a:avLst/>
          </a:prstGeom>
          <a:solidFill>
            <a:srgbClr val="EDFBF4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8856" y="1645919"/>
            <a:ext cx="4855464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A3E"/>
                </a:solidFill>
              </a:rPr>
              <a:t>전면 정비 완료
메뉴·콘텐츠·댓글·소식 업데이트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820923"/>
            <a:ext cx="2075688" cy="1120140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198113"/>
            <a:ext cx="19385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3E"/>
                </a:solidFill>
              </a:rPr>
              <a:t>마케팅
문구 작성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87168" y="2820923"/>
            <a:ext cx="4178808" cy="1120140"/>
          </a:xfrm>
          <a:prstGeom prst="rect">
            <a:avLst/>
          </a:prstGeom>
          <a:solidFill>
            <a:srgbClr val="FDEEF1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4328" y="2948939"/>
            <a:ext cx="397764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인스타/블로그 문구
자체 작성 불가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198113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0A4AE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11696" y="2820923"/>
            <a:ext cx="5056632" cy="1120140"/>
          </a:xfrm>
          <a:prstGeom prst="rect">
            <a:avLst/>
          </a:prstGeom>
          <a:solidFill>
            <a:srgbClr val="EDFBF4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48856" y="2948939"/>
            <a:ext cx="4855464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A3E"/>
                </a:solidFill>
              </a:rPr>
              <a:t>AI 젬스 3종 + 매뉴얼 제공
클릭 한 번으로 자동 생성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4123943"/>
            <a:ext cx="2075688" cy="1120140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4501133"/>
            <a:ext cx="19385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3E"/>
                </a:solidFill>
              </a:rPr>
              <a:t>홍보물
제작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87168" y="4123943"/>
            <a:ext cx="4178808" cy="1120140"/>
          </a:xfrm>
          <a:prstGeom prst="rect">
            <a:avLst/>
          </a:prstGeom>
          <a:solidFill>
            <a:srgbClr val="FDEEF1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4328" y="4251959"/>
            <a:ext cx="397764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홍보물 자체 제작
완전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501133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0A4AE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11696" y="4123943"/>
            <a:ext cx="5056632" cy="1120140"/>
          </a:xfrm>
          <a:prstGeom prst="rect">
            <a:avLst/>
          </a:prstGeom>
          <a:solidFill>
            <a:srgbClr val="EDFBF4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48856" y="4251959"/>
            <a:ext cx="4855464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A3E"/>
                </a:solidFill>
              </a:rPr>
              <a:t>챗GPT·제미나이 활용
초상권 보호 일러스트 자유 제작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5426963"/>
            <a:ext cx="2075688" cy="1120140"/>
          </a:xfrm>
          <a:prstGeom prst="rect">
            <a:avLst/>
          </a:prstGeom>
          <a:solidFill>
            <a:srgbClr val="EAF0F8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5804153"/>
            <a:ext cx="19385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B3E"/>
                </a:solidFill>
              </a:rPr>
              <a:t>마케팅
실행 루틴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7168" y="5426963"/>
            <a:ext cx="4178808" cy="1120140"/>
          </a:xfrm>
          <a:prstGeom prst="rect">
            <a:avLst/>
          </a:prstGeom>
          <a:solidFill>
            <a:srgbClr val="FDEEF1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24328" y="5554979"/>
            <a:ext cx="397764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마케팅 루틴 전무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804153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0A4AE"/>
                </a:solidFill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11696" y="5426963"/>
            <a:ext cx="5056632" cy="1120140"/>
          </a:xfrm>
          <a:prstGeom prst="rect">
            <a:avLst/>
          </a:prstGeom>
          <a:solidFill>
            <a:srgbClr val="EDFBF4"/>
          </a:solidFill>
          <a:ln w="6350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48856" y="5554979"/>
            <a:ext cx="4855464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A3E"/>
                </a:solidFill>
              </a:rPr>
              <a:t>주 2회 10분 루틴 확립
촬영1분+젬스2분+업로드2분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자립형 마케팅 루틴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주 2회 10분 루틴  —  컨설팅 이후에도 지속 가능한 성장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2152497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115567"/>
            <a:ext cx="50292" cy="2377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7764" y="1115567"/>
            <a:ext cx="2102205" cy="40233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188719"/>
            <a:ext cx="189646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1분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1591055"/>
            <a:ext cx="189646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01
사진 촬영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" y="2359151"/>
            <a:ext cx="1896465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487167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수련 뒷모습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89503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시설 모습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8257" y="2066543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0A4AE"/>
                </a:solidFill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82849" y="1115567"/>
            <a:ext cx="2152497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82849" y="1115567"/>
            <a:ext cx="50292" cy="2377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33141" y="1115567"/>
            <a:ext cx="2102205" cy="40233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29153" y="1188719"/>
            <a:ext cx="189646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2분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29153" y="1591055"/>
            <a:ext cx="189646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02
젬스 문구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29153" y="2359151"/>
            <a:ext cx="1896465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9153" y="2487167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인스타 텍스트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29153" y="2889503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해시태그 자동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3635" y="2066543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0A4AE"/>
                </a:solidFill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18227" y="1115567"/>
            <a:ext cx="2152497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18227" y="1115567"/>
            <a:ext cx="50292" cy="2377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8519" y="1115567"/>
            <a:ext cx="2102205" cy="40233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64531" y="1188719"/>
            <a:ext cx="189646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2분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4531" y="1591055"/>
            <a:ext cx="189646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03
업로드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64531" y="2359151"/>
            <a:ext cx="1896465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4531" y="2487167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인스타그램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4531" y="2889503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포스팅 완성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89012" y="2066543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0A4AE"/>
                </a:solidFill>
              </a:rPr>
              <a:t>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53604" y="1115567"/>
            <a:ext cx="2152497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53604" y="1115567"/>
            <a:ext cx="50292" cy="2377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03896" y="1115567"/>
            <a:ext cx="2102205" cy="40233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9908" y="1188719"/>
            <a:ext cx="189646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수시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9908" y="1591055"/>
            <a:ext cx="189646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04
리뷰 요청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9908" y="2359151"/>
            <a:ext cx="1896465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9908" y="2487167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젬스 2번 활용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9908" y="2889503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맞춤 카톡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4390" y="2066543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0A4AE"/>
                </a:solidFill>
              </a:rPr>
              <a:t>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88982" y="1115567"/>
            <a:ext cx="2152497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688982" y="1115567"/>
            <a:ext cx="50292" cy="2377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739274" y="1115567"/>
            <a:ext cx="2102205" cy="402336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35286" y="1188719"/>
            <a:ext cx="189646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102E"/>
                </a:solidFill>
              </a:rPr>
              <a:t>즉시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35286" y="1591055"/>
            <a:ext cx="189646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05
리뷰 답글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35286" y="2359151"/>
            <a:ext cx="1896465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35286" y="2487167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젬스 3번 활용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35286" y="2889503"/>
            <a:ext cx="189646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</a:rPr>
              <a:t>자동 생성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7472" y="3675887"/>
            <a:ext cx="11494008" cy="512064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47472" y="3675887"/>
            <a:ext cx="50292" cy="5120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785615"/>
            <a:ext cx="11292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총 5분 이내 완성  —  스마트폰 하나로 전문적인 마케팅 콘텐츠 제작 가능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7472" y="4370831"/>
            <a:ext cx="2736342" cy="2176273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7472" y="4370831"/>
            <a:ext cx="50292" cy="217627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3776" y="4480559"/>
            <a:ext cx="25168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네이버 플레이스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4828031"/>
            <a:ext cx="2480310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93776" y="509320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493775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정보 최신화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3776" y="564184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548639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리뷰 답글 등록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619048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603503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소식 게시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66694" y="4370831"/>
            <a:ext cx="2736342" cy="2176273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66694" y="4370831"/>
            <a:ext cx="50292" cy="217627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12998" y="4480559"/>
            <a:ext cx="25168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인스타그램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412998" y="4828031"/>
            <a:ext cx="2480310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412998" y="509320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59302" y="493775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주 2회 포스팅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12998" y="564184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59302" y="548639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해시태그 최적화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412998" y="619048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59302" y="603503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팔로워 소통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85916" y="4370831"/>
            <a:ext cx="2736342" cy="2176273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85916" y="4370831"/>
            <a:ext cx="50292" cy="217627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32220" y="4480559"/>
            <a:ext cx="25168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리뷰 관리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32220" y="4828031"/>
            <a:ext cx="2480310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332220" y="509320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78524" y="493775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개별 요청 발송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32220" y="564184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78524" y="548639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답글 즉시 등록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32220" y="619048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78524" y="603503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30개 목표 진행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105138" y="4370831"/>
            <a:ext cx="2736342" cy="2176273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105138" y="4370831"/>
            <a:ext cx="50292" cy="217627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251442" y="4480559"/>
            <a:ext cx="251688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환경개선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251442" y="4828031"/>
            <a:ext cx="2480310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251442" y="509320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97746" y="493775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계단·복도 청결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251442" y="564184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397746" y="548639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비포·애프터 기록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251442" y="6190487"/>
            <a:ext cx="54864" cy="54864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397746" y="6035039"/>
            <a:ext cx="233400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A"/>
                </a:solidFill>
              </a:rPr>
              <a:t>학부모 첫인상 관리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자립 시스템 총정리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컨설팅 종료 시점 구축 완료 현황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11494008" cy="7528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115567"/>
            <a:ext cx="50292" cy="7528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" y="1254251"/>
            <a:ext cx="457200" cy="47548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1188719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D1B3E"/>
                </a:solidFill>
              </a:rPr>
              <a:t>네이버 플레이스 최적화 및 업데이트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499615"/>
            <a:ext cx="10707624" cy="295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브랜드 통일·운영시간·소개글·사진·핵심 서비스 전면 정비 / 무료체험 예약 + 네이버 톡톡 추가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2051303"/>
            <a:ext cx="11494008" cy="7528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051303"/>
            <a:ext cx="50292" cy="7528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2189987"/>
            <a:ext cx="457200" cy="47548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124455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D1B3E"/>
                </a:solidFill>
              </a:rPr>
              <a:t>인스타그램 공식 채널 정상 가동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2435351"/>
            <a:ext cx="10707624" cy="295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역삼효태권도장 공식 인스타그램 개설·프로필 구성·첫 포스팅 완료 / 관장님 직접 실습으로 지속 운영 역량 확보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987039"/>
            <a:ext cx="11494008" cy="7528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2987039"/>
            <a:ext cx="50292" cy="7528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3125723"/>
            <a:ext cx="457200" cy="47548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060191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D1B3E"/>
                </a:solidFill>
              </a:rPr>
              <a:t>AI 젬스 4종 완전 체득 및 실습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371087"/>
            <a:ext cx="10707624" cy="295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인스타 포스팅 생성기 / 리뷰 요청 카톡 생성기 / 리뷰 답글 생성기 / AI 홍보이미지 생성 → 매뉴얼 제작 및 숙지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3922775"/>
            <a:ext cx="11494008" cy="7528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922775"/>
            <a:ext cx="50292" cy="7528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912" y="4061459"/>
            <a:ext cx="457200" cy="47548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995927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D1B3E"/>
                </a:solidFill>
              </a:rPr>
              <a:t>주 2회 10분 마케팅 루틴 확립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4306823"/>
            <a:ext cx="10707624" cy="295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사진(1분) + 젬스(2분) + 업로드(2분) = 5분 루틴 / 외부 대행 없이 스스로 운영 가능한 자립형 마케팅 시스템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4858511"/>
            <a:ext cx="11494008" cy="7528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" y="4858511"/>
            <a:ext cx="50292" cy="7528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" y="4997195"/>
            <a:ext cx="457200" cy="47548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" y="4931663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D1B3E"/>
                </a:solidFill>
              </a:rPr>
              <a:t>리뷰 30개 달성 단계별 실행 계획 수립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42559"/>
            <a:ext cx="10707624" cy="295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현재 13개 → 3개월 내 30개 목표 / 최적 타이밍별 요청 전략 확정 / 젬스 2번 개별 맞춤 발송으로 자연스러운 리뷰 확보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5794247"/>
            <a:ext cx="11494008" cy="752856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5794247"/>
            <a:ext cx="50292" cy="7528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8912" y="5932931"/>
            <a:ext cx="457200" cy="475488"/>
          </a:xfrm>
          <a:prstGeom prst="rect">
            <a:avLst/>
          </a:prstGeom>
          <a:solidFill>
            <a:srgbClr val="147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5867399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D1B3E"/>
                </a:solidFill>
              </a:rPr>
              <a:t>환경개선 및 학부모 눈높이 소통 의지 제고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" y="6178295"/>
            <a:ext cx="10707624" cy="295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</a:rPr>
              <a:t>계단·복도 청결 환경개선 (첫인상 관리) / 서울시 소상공인 지원사업 연계 시설개선 최대 300만원 지원 안내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"/>
            <a:ext cx="12188952" cy="1005839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237744"/>
            <a:ext cx="493776" cy="42062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01168"/>
            <a:ext cx="114940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향후 제언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713232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A99CC"/>
                </a:solidFill>
              </a:rPr>
              <a:t>지속 가능성 및 성장 전략 제언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4768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70A0"/>
                </a:solidFill>
              </a:rPr>
              <a:t>역삼효태권도장  |  온라인 마케팅 컨설팅 보고서  |  2026.05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86032" y="6647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5570A0"/>
                </a:solidFill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115567"/>
            <a:ext cx="565556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115567"/>
            <a:ext cx="50292" cy="20299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243583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1280159"/>
            <a:ext cx="49240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단톡방 유지 사후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1664207"/>
            <a:ext cx="539953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1792223"/>
            <a:ext cx="5399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컨설팅 팀과 단체 채팅방 유지로 추후 궁금증 즉시 해결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139695"/>
            <a:ext cx="5399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지속적인 관리 및 피드백 제공 예정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5916" y="1115567"/>
            <a:ext cx="565556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5916" y="1115567"/>
            <a:ext cx="50292" cy="20299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2220" y="1243583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9420" y="1280159"/>
            <a:ext cx="49240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WOM 입소문 마케팅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32220" y="1664207"/>
            <a:ext cx="539953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2220" y="1792223"/>
            <a:ext cx="5399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컨설팅 수혜 업체가 주변 소상공인 대상으로 홍보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2220" y="2139695"/>
            <a:ext cx="5399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→ 추천제도 운영으로 선순환 생태계 구축 제언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3328415"/>
            <a:ext cx="565556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7472" y="3328415"/>
            <a:ext cx="50292" cy="20299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" y="34564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3493007"/>
            <a:ext cx="49240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서울시 지원사업 연계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3776" y="3877055"/>
            <a:ext cx="539953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" y="4005071"/>
            <a:ext cx="5399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서울특별시 소상공인 지원사업 활용 (seoulsbdc.or.kr)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352543"/>
            <a:ext cx="5399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하반기 시설개선 최대 300만원 지원 활용 제언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5916" y="3328415"/>
            <a:ext cx="565556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85916" y="3328415"/>
            <a:ext cx="50292" cy="20299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2220" y="34564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9420" y="3493007"/>
            <a:ext cx="49240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콘텐츠 자산 지속 축적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32220" y="3877055"/>
            <a:ext cx="5399532" cy="13716"/>
          </a:xfrm>
          <a:prstGeom prst="rect">
            <a:avLst/>
          </a:prstGeom>
          <a:solidFill>
            <a:srgbClr val="D8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2220" y="4005071"/>
            <a:ext cx="5399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수련 사진·영상 꾸준한 기록 → 인스타·네이버 자산화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2220" y="4352543"/>
            <a:ext cx="53995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A"/>
                </a:solidFill>
              </a:rPr>
              <a:t>"가랑비에 옷 젖듯이" 철학을 온라인에서도 실현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5724144"/>
            <a:ext cx="11494008" cy="8229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7472" y="5724144"/>
            <a:ext cx="50292" cy="8229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581558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관장님 소회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5980176"/>
            <a:ext cx="1125626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"태권도 학원들이 대체로 홍보 마케팅과 거리가 멀었는데, 3일 동안 완전히! 꼭 필요한 것을 너무나도 꽉꽉 채워주셨습니다.  감사합니다!"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702552" y="-2011680"/>
            <a:ext cx="7315200" cy="7315200"/>
          </a:xfrm>
          <a:prstGeom prst="ellipse">
            <a:avLst/>
          </a:prstGeom>
          <a:solidFill>
            <a:srgbClr val="0A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02952" y="3200400"/>
            <a:ext cx="4572000" cy="4572000"/>
          </a:xfrm>
          <a:prstGeom prst="ellipse">
            <a:avLst/>
          </a:prstGeom>
          <a:solidFill>
            <a:srgbClr val="081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188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2651760"/>
            <a:ext cx="73152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798064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99CC"/>
                </a:solidFill>
              </a:rPr>
              <a:t>역삼효태권도장  온라인 마케팅 컨설팅 보고서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3502152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3401568"/>
            <a:ext cx="6858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네이버 플레이스 완전 최적화 및 브랜드 통일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3904488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3803904"/>
            <a:ext cx="6858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인스타그램 공식 채널 개설 및 첫 포스팅 완료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4306824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206240"/>
            <a:ext cx="6858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AI 젬스 3종 자동화 시스템 완전 체득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4709160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4608576"/>
            <a:ext cx="6858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주 2회 10분 마케팅 루틴 자립 시스템 완성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5111496"/>
            <a:ext cx="36576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5010912"/>
            <a:ext cx="6858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3개월 리뷰 30개 달성 단계별 실행 계획 수립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5687568"/>
            <a:ext cx="6400800" cy="658368"/>
          </a:xfrm>
          <a:prstGeom prst="rect">
            <a:avLst/>
          </a:prstGeom>
          <a:solidFill>
            <a:srgbClr val="142A58"/>
          </a:solidFill>
          <a:ln w="9525">
            <a:solidFill>
              <a:srgbClr val="284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5687568"/>
            <a:ext cx="5029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7424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</a:rPr>
              <a:t>컨설팅 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943600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8EE"/>
                </a:solidFill>
              </a:rPr>
              <a:t>B그룹 5조  권용준 · 손미현  |  2026.05.26 – 2026.05.29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