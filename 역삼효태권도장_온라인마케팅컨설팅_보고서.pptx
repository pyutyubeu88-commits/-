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4389120"/>
            <a:ext cx="12188952" cy="6400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714232" y="-1097280"/>
            <a:ext cx="4572000" cy="4572000"/>
          </a:xfrm>
          <a:prstGeom prst="ellipse">
            <a:avLst/>
          </a:prstGeom>
          <a:solidFill>
            <a:srgbClr val="14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1005840"/>
            <a:ext cx="2926080" cy="50292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024128"/>
            <a:ext cx="29260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소상공인 컨설팅 보고서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FFFFFF"/>
                </a:solidFill>
              </a:rPr>
              <a:t>역삼효태권도장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BBCCEE"/>
                </a:solidFill>
              </a:rPr>
              <a:t>온라인 마케팅 진단 및 자립형 마케팅 시스템 구축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83280"/>
            <a:ext cx="4572000" cy="457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356616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업체명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566160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역삼효태권도장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1363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대표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913632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김형열 관장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61104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컨설팅팀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261104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B그룹 5조 | 권용준, 손미현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608576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기간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608576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2026.05.26 ~ 2026.05.29  (총 3일)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956048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5A623"/>
                </a:solidFill>
              </a:rPr>
              <a:t>분야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03120" y="495604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학원업 | 온라인 마케팅 진단 및 솔루션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28016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목차  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CCEE"/>
                </a:solidFill>
              </a:rPr>
              <a:t>역삼효태권도장 소상공인 컨설팅 보고서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2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17320"/>
            <a:ext cx="5614416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17320"/>
            <a:ext cx="530352" cy="621792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" y="1545336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1472184"/>
            <a:ext cx="4919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업체 개요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264" y="1746504"/>
            <a:ext cx="4919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역삼효태권도장 기본 정보 및 운영 현황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8776" y="1417320"/>
            <a:ext cx="5614416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08776" y="1417320"/>
            <a:ext cx="530352" cy="62179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17920" y="1545336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12280" y="1472184"/>
            <a:ext cx="4919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현황 진단 &amp; 핵심 강점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12280" y="1746504"/>
            <a:ext cx="4919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온라인 마케팅 현황 분석 및 4대 강점 도출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130552"/>
            <a:ext cx="5614416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2130552"/>
            <a:ext cx="530352" cy="621792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4" y="2258568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2185416"/>
            <a:ext cx="4919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1회차 컨설팅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9264" y="2459736"/>
            <a:ext cx="4919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브랜드 포지셔닝 · 네이버 플레이스 전략 수립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8776" y="2130552"/>
            <a:ext cx="5614416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08776" y="2130552"/>
            <a:ext cx="530352" cy="621792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17920" y="2258568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185416"/>
            <a:ext cx="4919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2회차 컨설팅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12280" y="2459736"/>
            <a:ext cx="4919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네이버 플레이스 최적화 · AI 젬스 시스템 구축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2843784"/>
            <a:ext cx="5614416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843784"/>
            <a:ext cx="530352" cy="62179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" y="297180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9264" y="2898648"/>
            <a:ext cx="4919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3회차 컨설팅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9264" y="3172968"/>
            <a:ext cx="4919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자립 실습 완료 · 리뷰 성장 계획 · 시스템 총정리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08776" y="2843784"/>
            <a:ext cx="5614416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08776" y="2843784"/>
            <a:ext cx="530352" cy="621792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17920" y="2971800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812280" y="2898648"/>
            <a:ext cx="4919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컨설팅 성과 비교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3172968"/>
            <a:ext cx="4919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Before → After 전후 비교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557016"/>
            <a:ext cx="5614416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65760" y="3557016"/>
            <a:ext cx="530352" cy="621792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74904" y="3685032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" y="3611880"/>
            <a:ext cx="4919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자립형 마케팅 루틴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9264" y="3886200"/>
            <a:ext cx="4919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주 2회 10분 루틴 및 실행 로드맵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08776" y="3557016"/>
            <a:ext cx="5614416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DDE5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08776" y="3557016"/>
            <a:ext cx="530352" cy="621792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17920" y="3685032"/>
            <a:ext cx="51206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12280" y="3611880"/>
            <a:ext cx="4919472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1A2E"/>
                </a:solidFill>
              </a:rPr>
              <a:t>향후 제언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812280" y="3886200"/>
            <a:ext cx="491947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지속가능성 및 성장 전략 제언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28016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01  업체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CCEE"/>
                </a:solidFill>
              </a:rPr>
              <a:t>역삼효태권도장 기본 정보 및 운영 현황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486400" cy="5029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0020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🏫  명칭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16002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역삼효태권도장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947672"/>
            <a:ext cx="5212080" cy="7315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01168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📍  위치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57400" y="20116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서울 강남구 역삼로 14길 18 2층
(역삼역 3번 출구 858m / 역삼초 인근)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359152"/>
            <a:ext cx="5212080" cy="7315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42316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🕐  영업시간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057400" y="242316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월~금  12:00 ~ 20:00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770632"/>
            <a:ext cx="5212080" cy="7315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283464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📞  전화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57400" y="283464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02-552-7582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182112"/>
            <a:ext cx="5212080" cy="7315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24612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👤  운영인력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324612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관장(김형열) + 사범 총 2명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3593592"/>
            <a:ext cx="5212080" cy="7315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65760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🥋  등록인원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3657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65명
유치부 16명 | 초등저학년 23명 | 초등고학년 23명 | 중학교 3명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005072"/>
            <a:ext cx="5212080" cy="7315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06908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💰  수강료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57400" y="406908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주 3~4회: 월 180,000원
주 5회: 월 190,000원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416552"/>
            <a:ext cx="5212080" cy="7315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2920" y="4480560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📅  운영기간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57400" y="448056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12년 (인근 3년 + 현 위치 9년)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4828032"/>
            <a:ext cx="5212080" cy="7315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1463040"/>
            <a:ext cx="5577840" cy="10058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173736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관원 구성 현황 (총 65명)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0" y="2560320"/>
            <a:ext cx="5212080" cy="402336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400800" y="2560320"/>
            <a:ext cx="1282973" cy="40233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73952" y="2615184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유치부 (7세)  16명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0" y="3054096"/>
            <a:ext cx="5212080" cy="402336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00800" y="3054096"/>
            <a:ext cx="1844274" cy="402336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73952" y="3108960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초등 저학년 (1~3학년)  23명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3547872"/>
            <a:ext cx="5212080" cy="402336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3547872"/>
            <a:ext cx="1844274" cy="402336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73952" y="3602736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초등 고학년 (4~6학년)  23명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400800" y="4041648"/>
            <a:ext cx="5212080" cy="402336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041648"/>
            <a:ext cx="240557" cy="402336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73952" y="4096512"/>
            <a:ext cx="5120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중학교  3명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17920" y="4626864"/>
            <a:ext cx="5577840" cy="77724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0" y="4764024"/>
            <a:ext cx="5303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A623"/>
                </a:solidFill>
              </a:rPr>
              <a:t>☞  고학년 + 중학생 비중 40% → "한 번 믿으면 끝까지"  장기 신뢰 도장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28016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02  현황 진단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CCEE"/>
                </a:solidFill>
              </a:rPr>
              <a:t>온라인 마케팅 인프라 및 강약점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394960" cy="45720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51790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⚠  마케팅 인프라 부족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920240"/>
            <a:ext cx="53949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C0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02920" y="2103120"/>
            <a:ext cx="54864" cy="256032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057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네이버 플레이스 리뷰 13개(기본 4 / 키워드 7 / 블로그 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514600"/>
            <a:ext cx="54864" cy="256032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468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브랜드명 혼재 (역삼효태권도장 / 효태권도 등)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926080"/>
            <a:ext cx="54864" cy="256032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880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채널별 정보 불일치 → 검색 신뢰도 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337560"/>
            <a:ext cx="54864" cy="256032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291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신규 고객 유입 구조 미흡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35040" y="1463040"/>
            <a:ext cx="5394960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517904"/>
            <a:ext cx="5212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⚠  디지털 활용 역량 저하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1920240"/>
            <a:ext cx="5394960" cy="2011680"/>
          </a:xfrm>
          <a:prstGeom prst="rect">
            <a:avLst/>
          </a:prstGeom>
          <a:solidFill>
            <a:srgbClr val="FFFFFF"/>
          </a:solidFill>
          <a:ln w="190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2103120"/>
            <a:ext cx="54864" cy="25603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20574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인스타그램 등 SNS 채널 업데이트 미흡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2514600"/>
            <a:ext cx="54864" cy="25603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0" y="2468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홍보 콘텐츠 제작 경험 부족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2926080"/>
            <a:ext cx="54864" cy="25603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288036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학부모 디지털 소통 루틴 부재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72200" y="3337560"/>
            <a:ext cx="54864" cy="256032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0" y="329184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A1A2E"/>
                </a:solidFill>
              </a:rPr>
              <a:t>마케팅 루틴 전무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069080"/>
            <a:ext cx="11457432" cy="7772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133087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</a:rPr>
              <a:t>☞  핵심 진단: 오프라인 서비스 품질·학부모 만족도는 매우 높으나,
온라인 검색 결과와 신규 유입 구조로 연결되지 않고 있는 상태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4956048"/>
            <a:ext cx="11457432" cy="411480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983480"/>
            <a:ext cx="5486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✅  현장 조사로 확인된 실질 강점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5458968"/>
            <a:ext cx="213969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504688"/>
            <a:ext cx="20025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12년 장기 운영 신뢰도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670048" y="5458968"/>
            <a:ext cx="213969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761488" y="5504688"/>
            <a:ext cx="20025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역삼초 6타임 무료 픽업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974336" y="5458968"/>
            <a:ext cx="213969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65776" y="5504688"/>
            <a:ext cx="20025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실시간 에듀패밀리 출결 사진 전송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78624" y="5458968"/>
            <a:ext cx="213969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70064" y="5504688"/>
            <a:ext cx="20025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정서적 유대 교육 철학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582912" y="5458968"/>
            <a:ext cx="2139696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674352" y="5504688"/>
            <a:ext cx="2002536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A1A2E"/>
                </a:solidFill>
              </a:rPr>
              <a:t>고학년·중등 40% 유지율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2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역삼효태권도장  4대 핵심 강점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49808"/>
            <a:ext cx="9144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EE"/>
                </a:solidFill>
              </a:rPr>
              <a:t>컨설팅 현장 조사를 통해 도출된 핵심 경쟁력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115568"/>
            <a:ext cx="4114800" cy="36576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2658618" cy="5029200"/>
          </a:xfrm>
          <a:prstGeom prst="rect">
            <a:avLst/>
          </a:prstGeom>
          <a:solidFill>
            <a:srgbClr val="142855"/>
          </a:solidFill>
          <a:ln w="19050">
            <a:solidFill>
              <a:srgbClr val="C0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371600"/>
            <a:ext cx="2658618" cy="50292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1426464"/>
            <a:ext cx="247573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" y="1965960"/>
            <a:ext cx="24757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01C2C"/>
                </a:solidFill>
              </a:rPr>
              <a:t>완벽한 케어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56032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역삼초 6타임 무료 픽업 (직접 운행)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" y="297180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실시간 에듀패밀리 출결 사진 전송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" y="338328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외주 기사 없는 관장 직접 책임제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8698" y="1371600"/>
            <a:ext cx="2658618" cy="5029200"/>
          </a:xfrm>
          <a:prstGeom prst="rect">
            <a:avLst/>
          </a:prstGeom>
          <a:solidFill>
            <a:srgbClr val="142855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8698" y="1371600"/>
            <a:ext cx="2658618" cy="5029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90138" y="1426464"/>
            <a:ext cx="247573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08426" y="1965960"/>
            <a:ext cx="24757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5A623"/>
                </a:solidFill>
              </a:rPr>
              <a:t>모두가 주인공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08426" y="256032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시범단 위주 아닌 전원 성장 수업 구조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08426" y="297180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예절·체력·태권도·생활지도 4축 시스템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8426" y="338328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60분 체계적 수업 설계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1371600"/>
            <a:ext cx="2658618" cy="5029200"/>
          </a:xfrm>
          <a:prstGeom prst="rect">
            <a:avLst/>
          </a:prstGeom>
          <a:solidFill>
            <a:srgbClr val="142855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231636" y="1371600"/>
            <a:ext cx="2658618" cy="5029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23076" y="1426464"/>
            <a:ext cx="247573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41364" y="1965960"/>
            <a:ext cx="24757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6A085"/>
                </a:solidFill>
              </a:rPr>
              <a:t>통합 교육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41364" y="256032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기초체력 / 학교체육 / 태권도 실기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1364" y="297180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생활지도 통합 60분 수업 구조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41364" y="338328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정서적 유대 기반 교육 철학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64574" y="1371600"/>
            <a:ext cx="2658618" cy="5029200"/>
          </a:xfrm>
          <a:prstGeom prst="rect">
            <a:avLst/>
          </a:prstGeom>
          <a:solidFill>
            <a:srgbClr val="142855"/>
          </a:solidFill>
          <a:ln w="1905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164574" y="1371600"/>
            <a:ext cx="2658618" cy="502920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56014" y="1426464"/>
            <a:ext cx="2475738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74302" y="1965960"/>
            <a:ext cx="247573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4A6B9A"/>
                </a:solidFill>
              </a:rPr>
              <a:t>12년의 신뢰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74302" y="256032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졸업생이 찾아오고 이사 후에도 다니는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74302" y="297180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검증된 교육력 (고학년·중등 40% 유지)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74302" y="338328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• "가랑비에 옷 젖듯이" 서두르지 않는 방식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28016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03  1회차 컨설팅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CCEE"/>
                </a:solidFill>
              </a:rPr>
              <a:t>2026.05.26 | 브랜드 포지셔닝 및 온라인 전략 수립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6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30352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5303520" cy="4572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50876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브랜드 포지셔닝 확정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5074920" cy="777240"/>
          </a:xfrm>
          <a:prstGeom prst="rect">
            <a:avLst/>
          </a:prstGeom>
          <a:solidFill>
            <a:srgbClr val="FD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2130552"/>
            <a:ext cx="4937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C01C2C"/>
                </a:solidFill>
              </a:rPr>
              <a:t>"아이의 마음까지 책임지는  12년 신뢰"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971800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핵심 타깃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971800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역삼동 맞벌이 학부모
(안심 케어 + 정서적 성장 동시 필요 계층)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37560"/>
            <a:ext cx="4983480" cy="7315"/>
          </a:xfrm>
          <a:prstGeom prst="rect">
            <a:avLst/>
          </a:prstGeom>
          <a:solidFill>
            <a:srgbClr val="E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3447288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브랜드 통일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3447288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모든 채널 '역삼효태권도장 / 02-552-7582' 일원화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813048"/>
            <a:ext cx="4983480" cy="7315"/>
          </a:xfrm>
          <a:prstGeom prst="rect">
            <a:avLst/>
          </a:prstGeom>
          <a:solidFill>
            <a:srgbClr val="E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922776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주요 채널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3922776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네이버 플레이스 최적화 + 인스타그램 10분 루틴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288536"/>
            <a:ext cx="4983480" cy="7315"/>
          </a:xfrm>
          <a:prstGeom prst="rect">
            <a:avLst/>
          </a:prstGeom>
          <a:solidFill>
            <a:srgbClr val="E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398264"/>
            <a:ext cx="1463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4A6B9A"/>
                </a:solidFill>
              </a:rPr>
              <a:t>핵심 메시지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4398264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"가랑비에 옷 젖듯이" 서두르지 않는 12년 교육철학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4764024"/>
            <a:ext cx="4983480" cy="7315"/>
          </a:xfrm>
          <a:prstGeom prst="rect">
            <a:avLst/>
          </a:prstGeom>
          <a:solidFill>
            <a:srgbClr val="E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989320" y="1463040"/>
            <a:ext cx="5852160" cy="457200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126480" y="150876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1회차 수행 프로세스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89320" y="2057400"/>
            <a:ext cx="731520" cy="86868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07608" y="2240280"/>
            <a:ext cx="6949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720840" y="2057400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0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30568" y="2093976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C01C2C"/>
                </a:solidFill>
              </a:rPr>
              <a:t>온라인 현황 진단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30568" y="2404872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네이버 플레이스 리뷰 현황
브랜드명 혼재 및 채널 불일치 확인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63640" y="2926080"/>
            <a:ext cx="182880" cy="109728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989320" y="3035808"/>
            <a:ext cx="731520" cy="86868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07608" y="3218688"/>
            <a:ext cx="6949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720840" y="3035808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830568" y="307238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F5A623"/>
                </a:solidFill>
              </a:rPr>
              <a:t>교육 철학 · 핵심 강점 도출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30568" y="3383280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총 12년 운영 신뢰도
정서적 유대 기반 교육 정신 파악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904488"/>
            <a:ext cx="182880" cy="109728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89320" y="4014216"/>
            <a:ext cx="731520" cy="86868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07608" y="4197096"/>
            <a:ext cx="6949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720840" y="4014216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830568" y="405079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6A085"/>
                </a:solidFill>
              </a:rPr>
              <a:t>4대 핵심 강점 정의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30568" y="4361688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완벽한 케어 / 모두가 주인공
통합 교육 / 12년의 신뢰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63640" y="4882896"/>
            <a:ext cx="182880" cy="109728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989320" y="4992624"/>
            <a:ext cx="731520" cy="868680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07608" y="5175504"/>
            <a:ext cx="694944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720840" y="4992624"/>
            <a:ext cx="512064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830568" y="502920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4A6B9A"/>
                </a:solidFill>
              </a:rPr>
              <a:t>브랜드 포지셔닝 확정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30568" y="5340096"/>
            <a:ext cx="49377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메인 포지셔닝 및 타깃 설정
채널 전략 로드맵 공유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28016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04  네이버 플레이스 전면 최적화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CCEE"/>
                </a:solidFill>
              </a:rPr>
              <a:t>2회차 컨설팅 2026.05.28 | 검색 최적화 완전 정비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7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2084831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1517904"/>
            <a:ext cx="199339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68880" y="1463040"/>
            <a:ext cx="224028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42032" y="1517904"/>
            <a:ext cx="2148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변경 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754880" y="1463040"/>
            <a:ext cx="361188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28032" y="1517904"/>
            <a:ext cx="3520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변경 후 (최적화 완료)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1463040"/>
            <a:ext cx="3246120" cy="4114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85632" y="1517904"/>
            <a:ext cx="3154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효과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74520"/>
            <a:ext cx="2084831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8912" y="1920240"/>
            <a:ext cx="197510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1C2C"/>
                </a:solidFill>
              </a:rPr>
              <a:t>공식 상호 및 번호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68880" y="1874520"/>
            <a:ext cx="22402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42032" y="1920240"/>
            <a:ext cx="21305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상호명/대표번호 미통일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874520"/>
            <a:ext cx="36118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28032" y="1920240"/>
            <a:ext cx="35021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6A085"/>
                </a:solidFill>
              </a:rPr>
              <a:t>역삼효태권도장 / 02-552-7582
완전 통일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1874520"/>
            <a:ext cx="32461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485632" y="1920240"/>
            <a:ext cx="313639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검색 정확도↑
브랜드 신뢰도↑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560320"/>
            <a:ext cx="2084831" cy="685800"/>
          </a:xfrm>
          <a:prstGeom prst="rect">
            <a:avLst/>
          </a:prstGeom>
          <a:solidFill>
            <a:srgbClr val="F5F8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" y="2606040"/>
            <a:ext cx="197510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1C2C"/>
                </a:solidFill>
              </a:rPr>
              <a:t>영업 정보 상태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468880" y="2560320"/>
            <a:ext cx="2240280" cy="685800"/>
          </a:xfrm>
          <a:prstGeom prst="rect">
            <a:avLst/>
          </a:prstGeom>
          <a:solidFill>
            <a:srgbClr val="F5F8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42032" y="2606040"/>
            <a:ext cx="21305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운영시간 미입력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2560320"/>
            <a:ext cx="3611880" cy="685800"/>
          </a:xfrm>
          <a:prstGeom prst="rect">
            <a:avLst/>
          </a:prstGeom>
          <a:solidFill>
            <a:srgbClr val="F5F8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28032" y="2606040"/>
            <a:ext cx="35021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6A085"/>
                </a:solidFill>
              </a:rPr>
              <a:t>평일 12:00~20:00 적용
정확한 상담 유도 시간 입력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2560320"/>
            <a:ext cx="3246120" cy="685800"/>
          </a:xfrm>
          <a:prstGeom prst="rect">
            <a:avLst/>
          </a:prstGeom>
          <a:solidFill>
            <a:srgbClr val="F5F8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85632" y="2606040"/>
            <a:ext cx="313639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상담 전환율↑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3246120"/>
            <a:ext cx="2084831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8912" y="3291840"/>
            <a:ext cx="197510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1C2C"/>
                </a:solidFill>
              </a:rPr>
              <a:t>브랜드 소개글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68880" y="3246120"/>
            <a:ext cx="22402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542032" y="3291840"/>
            <a:ext cx="21305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단순 텍스트 / 매력 미흡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3246120"/>
            <a:ext cx="36118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28032" y="3291840"/>
            <a:ext cx="35021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6A085"/>
                </a:solidFill>
              </a:rPr>
              <a:t>"가랑비에 옷 젖듯이..."
12년 철학 + 무료픽업 + 출결앱 키워드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412480" y="3246120"/>
            <a:ext cx="32461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85632" y="3291840"/>
            <a:ext cx="313639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감성적 신뢰 형성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931920"/>
            <a:ext cx="2084831" cy="685800"/>
          </a:xfrm>
          <a:prstGeom prst="rect">
            <a:avLst/>
          </a:prstGeom>
          <a:solidFill>
            <a:srgbClr val="F5F8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" y="3977640"/>
            <a:ext cx="197510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1C2C"/>
                </a:solidFill>
              </a:rPr>
              <a:t>시각 자료 구성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468880" y="3931920"/>
            <a:ext cx="2240280" cy="685800"/>
          </a:xfrm>
          <a:prstGeom prst="rect">
            <a:avLst/>
          </a:prstGeom>
          <a:solidFill>
            <a:srgbClr val="F5F8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42032" y="3977640"/>
            <a:ext cx="21305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도장 관련 사진 등록 부족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54880" y="3931920"/>
            <a:ext cx="3611880" cy="685800"/>
          </a:xfrm>
          <a:prstGeom prst="rect">
            <a:avLst/>
          </a:prstGeom>
          <a:solidFill>
            <a:srgbClr val="F5F8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28032" y="3977640"/>
            <a:ext cx="35021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6A085"/>
                </a:solidFill>
              </a:rPr>
              <a:t>수련 모습·쾌적한 시설·
안전 픽업 사진 신규 업로드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412480" y="3931920"/>
            <a:ext cx="3246120" cy="685800"/>
          </a:xfrm>
          <a:prstGeom prst="rect">
            <a:avLst/>
          </a:prstGeom>
          <a:solidFill>
            <a:srgbClr val="F5F8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485632" y="3977640"/>
            <a:ext cx="313639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첫인상 신뢰도↑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617720"/>
            <a:ext cx="2084831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38912" y="4663440"/>
            <a:ext cx="1975103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C01C2C"/>
                </a:solidFill>
              </a:rPr>
              <a:t>핵심 서비스 노출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468880" y="4617720"/>
            <a:ext cx="22402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542032" y="4663440"/>
            <a:ext cx="21305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핵심 강점 기능 미노출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54880" y="4617720"/>
            <a:ext cx="361188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28032" y="4663440"/>
            <a:ext cx="350215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6A085"/>
                </a:solidFill>
              </a:rPr>
              <a:t>무료픽업·야간수련·에듀패밀리
안심케어·장기수련생·체력강화 등록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4617720"/>
            <a:ext cx="3246120" cy="685800"/>
          </a:xfrm>
          <a:prstGeom prst="rect">
            <a:avLst/>
          </a:prstGeom>
          <a:solidFill>
            <a:srgbClr val="FFFFFF"/>
          </a:solidFill>
          <a:ln w="6350">
            <a:solidFill>
              <a:srgbClr val="D0D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85632" y="4663440"/>
            <a:ext cx="3136392" cy="6126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A1A2E"/>
                </a:solidFill>
              </a:rPr>
              <a:t>검색 노출 키워드↑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5376672"/>
            <a:ext cx="11457432" cy="457200"/>
          </a:xfrm>
          <a:prstGeom prst="rect">
            <a:avLst/>
          </a:prstGeom>
          <a:solidFill>
            <a:srgbClr val="1A527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48640" y="5413248"/>
            <a:ext cx="110916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A623"/>
                </a:solidFill>
              </a:rPr>
              <a:t>☞  무료체험 예약 / 네이버 톡톡 기능 추가로 예비 관원 학부모 소통 편의성 제고 → 전방위 마케팅 활용 가능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288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AI 젬스(Gems) 자동화 시스템  구축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498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CCEE"/>
                </a:solidFill>
              </a:rPr>
              <a:t>제미나이 젬스(Gemini Gems) 3종 + AI 홍보이미지 → 완전 자립형 마케팅 시스템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25880"/>
            <a:ext cx="2658618" cy="5074920"/>
          </a:xfrm>
          <a:prstGeom prst="rect">
            <a:avLst/>
          </a:prstGeom>
          <a:solidFill>
            <a:srgbClr val="10224A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25880"/>
            <a:ext cx="2658618" cy="5486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399032"/>
            <a:ext cx="252145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GEMS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011680"/>
            <a:ext cx="252145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5A623"/>
                </a:solidFill>
              </a:rPr>
              <a:t>인스타 포스팅 생성기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60604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📸  사진만 넣으면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08376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인스타 텍스트 + 해시태그 자동 생성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486400"/>
            <a:ext cx="2475738" cy="77724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5504688"/>
            <a:ext cx="243916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주 2회 포스팅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5870448"/>
            <a:ext cx="243916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5분 이내 완성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98698" y="1325880"/>
            <a:ext cx="2658618" cy="5074920"/>
          </a:xfrm>
          <a:prstGeom prst="rect">
            <a:avLst/>
          </a:prstGeom>
          <a:solidFill>
            <a:srgbClr val="10224A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98698" y="1325880"/>
            <a:ext cx="2658618" cy="54864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90138" y="1399032"/>
            <a:ext cx="252145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GEMS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90138" y="2011680"/>
            <a:ext cx="252145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16A085"/>
                </a:solidFill>
              </a:rPr>
              <a:t>리뷰 요청 카톡 생성기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90138" y="260604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💬  학부모에게 부담 없는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90138" y="3008376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개인 맞춤 리뷰 요청 메시지 자동 작성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90138" y="5486400"/>
            <a:ext cx="2475738" cy="77724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08426" y="5504688"/>
            <a:ext cx="243916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3개월 리뷰 30개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08426" y="5870448"/>
            <a:ext cx="243916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달성 핵심 도구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31636" y="1325880"/>
            <a:ext cx="2658618" cy="5074920"/>
          </a:xfrm>
          <a:prstGeom prst="rect">
            <a:avLst/>
          </a:prstGeom>
          <a:solidFill>
            <a:srgbClr val="10224A"/>
          </a:solidFill>
          <a:ln w="254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1636" y="1325880"/>
            <a:ext cx="2658618" cy="548640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23076" y="1399032"/>
            <a:ext cx="252145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GEMS 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3076" y="2011680"/>
            <a:ext cx="252145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4A6B9A"/>
                </a:solidFill>
              </a:rPr>
              <a:t>리뷰 답글 생성기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3076" y="260604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⭐  네이버 플레이스 리뷰 입력 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23076" y="3008376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전문적인 감사 답글 자동 생성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23076" y="5486400"/>
            <a:ext cx="2475738" cy="777240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41364" y="5504688"/>
            <a:ext cx="243916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신뢰도 제고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41364" y="5870448"/>
            <a:ext cx="243916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응답률 100%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64574" y="1325880"/>
            <a:ext cx="2658618" cy="5074920"/>
          </a:xfrm>
          <a:prstGeom prst="rect">
            <a:avLst/>
          </a:prstGeom>
          <a:solidFill>
            <a:srgbClr val="10224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164574" y="1325880"/>
            <a:ext cx="2658618" cy="5486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256014" y="1399032"/>
            <a:ext cx="2521458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AI 이미지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56014" y="2011680"/>
            <a:ext cx="252145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E67E22"/>
                </a:solidFill>
              </a:rPr>
              <a:t>홍보 이미지 생성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56014" y="2606040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🎨  챗GPT · 제미나이 활용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56014" y="3008376"/>
            <a:ext cx="247573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CDDFF"/>
                </a:solidFill>
              </a:rPr>
              <a:t>아이 초상권 보호 일러스트 제작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56014" y="5486400"/>
            <a:ext cx="2475738" cy="77724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74302" y="5504688"/>
            <a:ext cx="243916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홍보물 외주비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274302" y="5870448"/>
            <a:ext cx="243916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제로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6400800"/>
            <a:ext cx="11457432" cy="256032"/>
          </a:xfrm>
          <a:prstGeom prst="rect">
            <a:avLst/>
          </a:prstGeom>
          <a:solidFill>
            <a:srgbClr val="0A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28016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04-2  관원 구성 데이터 분석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CCEE"/>
                </a:solidFill>
              </a:rPr>
              <a:t>출석부 기반 연령별 분석 → 마케팅 타깃 전략 반영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9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141732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508760"/>
            <a:ext cx="134416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연령대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463040"/>
            <a:ext cx="91440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874520" y="1508760"/>
            <a:ext cx="84124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인원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88920" y="1463040"/>
            <a:ext cx="77724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34640" y="1508760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비율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11880" y="1463040"/>
            <a:ext cx="4754880" cy="384048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1508760"/>
            <a:ext cx="468172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마케팅 포인트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1847088"/>
            <a:ext cx="14173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0624" y="1920240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5A623"/>
                </a:solidFill>
              </a:rPr>
              <a:t>7세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28800" y="1847088"/>
            <a:ext cx="9144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883664" y="1920240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10명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88920" y="1847088"/>
            <a:ext cx="777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43784" y="1920240"/>
            <a:ext cx="685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15.4%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11880" y="1847088"/>
            <a:ext cx="47548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66744" y="1920240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초등 입학 준비 전문성 어필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2359152"/>
            <a:ext cx="141732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0624" y="2432304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A6B9A"/>
                </a:solidFill>
              </a:rPr>
              <a:t>1학년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828800" y="2359152"/>
            <a:ext cx="91440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883664" y="243230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8명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88920" y="2359152"/>
            <a:ext cx="77724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43784" y="2432304"/>
            <a:ext cx="685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12.3%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11880" y="2359152"/>
            <a:ext cx="475488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66744" y="2432304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유치부 → 초등 자연스러운 연계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2871216"/>
            <a:ext cx="14173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0624" y="2944368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4A6B9A"/>
                </a:solidFill>
              </a:rPr>
              <a:t>2학년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28800" y="2871216"/>
            <a:ext cx="9144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883664" y="2944368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4명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788920" y="2871216"/>
            <a:ext cx="777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843784" y="2944368"/>
            <a:ext cx="685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6.2%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11880" y="2871216"/>
            <a:ext cx="47548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666744" y="2944368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기초 체력 형성기 집중 케어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65760" y="3383280"/>
            <a:ext cx="141732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20624" y="3456432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6A085"/>
                </a:solidFill>
              </a:rPr>
              <a:t>3학년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828800" y="3383280"/>
            <a:ext cx="91440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883664" y="3456432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11명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788920" y="3383280"/>
            <a:ext cx="77724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843784" y="3456432"/>
            <a:ext cx="685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16.9%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11880" y="3383280"/>
            <a:ext cx="475488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666744" y="3456432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기초 체력 단단한 허리층 타깃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3895344"/>
            <a:ext cx="141732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20624" y="3968496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6A085"/>
                </a:solidFill>
              </a:rPr>
              <a:t>4학년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828800" y="3895344"/>
            <a:ext cx="91440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883664" y="3968496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9명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88920" y="3895344"/>
            <a:ext cx="77724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843784" y="3968496"/>
            <a:ext cx="685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13.8%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11880" y="3895344"/>
            <a:ext cx="4754880" cy="51206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666744" y="3968496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학교 체육 및 교우관계 연계 부각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4407408"/>
            <a:ext cx="141732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0624" y="4480560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C01C2C"/>
                </a:solidFill>
              </a:rPr>
              <a:t>고학년+중등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828800" y="4407408"/>
            <a:ext cx="91440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883664" y="4480560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26명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788920" y="4407408"/>
            <a:ext cx="77724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2843784" y="4480560"/>
            <a:ext cx="685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1A1A2E"/>
                </a:solidFill>
              </a:rPr>
              <a:t>40.0%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11880" y="4407408"/>
            <a:ext cx="4754880" cy="512064"/>
          </a:xfrm>
          <a:prstGeom prst="rect">
            <a:avLst/>
          </a:prstGeom>
          <a:solidFill>
            <a:srgbClr val="F0F4FA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66744" y="4480560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독보적 경쟁력: 장기 유지 신뢰감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65760" y="4919472"/>
            <a:ext cx="1417320" cy="512064"/>
          </a:xfrm>
          <a:prstGeom prst="rect">
            <a:avLst/>
          </a:prstGeom>
          <a:solidFill>
            <a:srgbClr val="0D1B3E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420624" y="4992624"/>
            <a:ext cx="13258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합 계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828800" y="4919472"/>
            <a:ext cx="914400" cy="512064"/>
          </a:xfrm>
          <a:prstGeom prst="rect">
            <a:avLst/>
          </a:prstGeom>
          <a:solidFill>
            <a:srgbClr val="0D1B3E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883664" y="4992624"/>
            <a:ext cx="82296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</a:rPr>
              <a:t>65명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788920" y="4919472"/>
            <a:ext cx="777240" cy="512064"/>
          </a:xfrm>
          <a:prstGeom prst="rect">
            <a:avLst/>
          </a:prstGeom>
          <a:solidFill>
            <a:srgbClr val="0D1B3E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843784" y="4992624"/>
            <a:ext cx="6858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FFFFFF"/>
                </a:solidFill>
              </a:rPr>
              <a:t>100%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611880" y="4919472"/>
            <a:ext cx="4754880" cy="512064"/>
          </a:xfrm>
          <a:prstGeom prst="rect">
            <a:avLst/>
          </a:prstGeom>
          <a:solidFill>
            <a:srgbClr val="0D1B3E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666744" y="4992624"/>
            <a:ext cx="46634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</a:rPr>
              <a:t>역삼동 중심가 안정적 운영 증명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549640" y="1463040"/>
            <a:ext cx="3246120" cy="384048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641080" y="151790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연령별 비율 시각화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595360" y="1938528"/>
            <a:ext cx="3154680" cy="34747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8595360" y="1938528"/>
            <a:ext cx="873023" cy="34747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641080" y="1975104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7세  15.4%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95360" y="2377440"/>
            <a:ext cx="3154680" cy="34747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595360" y="2377440"/>
            <a:ext cx="706488" cy="347472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641080" y="2414016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1학년  12.3%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8595360" y="2816352"/>
            <a:ext cx="3154680" cy="34747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8595360" y="2816352"/>
            <a:ext cx="378790" cy="347472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641080" y="2852928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2학년  6.2%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595360" y="3255264"/>
            <a:ext cx="3154680" cy="34747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595360" y="3255264"/>
            <a:ext cx="953604" cy="347472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641080" y="3291840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3학년  16.9%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95360" y="3694176"/>
            <a:ext cx="3154680" cy="34747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595360" y="3694176"/>
            <a:ext cx="787069" cy="347472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641080" y="3730752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4학년  13.8%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595360" y="4133088"/>
            <a:ext cx="3154680" cy="347472"/>
          </a:xfrm>
          <a:prstGeom prst="rect">
            <a:avLst/>
          </a:prstGeom>
          <a:solidFill>
            <a:srgbClr val="E8E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595360" y="4133088"/>
            <a:ext cx="2194560" cy="347472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641080" y="4169664"/>
            <a:ext cx="3108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고학년+중등  40.0%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65760" y="4709160"/>
            <a:ext cx="11457432" cy="86868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48640" y="4736592"/>
            <a:ext cx="110916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5A623"/>
                </a:solidFill>
              </a:rPr>
              <a:t>☞  고학년+중등 비율 40% — 일반적으로 학과 공부로 이탈하는 연령대가 전체의 40%를 차지
→  "한 번 믿고 보내면 끝까지 안심하고 맡기는 도장" 의 가장 강력한 객관적 마케팅 근거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28016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05  3회차 컨설팅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CCEE"/>
                </a:solidFill>
              </a:rPr>
              <a:t>2026.05.29 | 자립 실습 완료 · 리뷰 성장 계획 · 시스템 총정리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63040"/>
            <a:ext cx="5577840" cy="5074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63040"/>
            <a:ext cx="5577840" cy="4572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50876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자립 실습 완료 내용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057400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6A085"/>
                </a:solidFill>
              </a:rPr>
              <a:t>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20574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2E"/>
                </a:solidFill>
              </a:rPr>
              <a:t>젬스 3번 리뷰 답글 생성기 활용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313432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네이버 플레이스 기존 리뷰 답글 실제 등록 완료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60320"/>
            <a:ext cx="5303520" cy="7315"/>
          </a:xfrm>
          <a:prstGeom prst="rect">
            <a:avLst/>
          </a:prstGeom>
          <a:solidFill>
            <a:srgbClr val="E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624328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6A085"/>
                </a:solidFill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262432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2E"/>
                </a:solidFill>
              </a:rPr>
              <a:t>젬스 1번 인스타 포스팅 생성기 활용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288036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인스타그램 2번째 포스팅 업로드 확인 (품질 조정 완료)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127248"/>
            <a:ext cx="5303520" cy="7315"/>
          </a:xfrm>
          <a:prstGeom prst="rect">
            <a:avLst/>
          </a:prstGeom>
          <a:solidFill>
            <a:srgbClr val="E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191256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6A085"/>
                </a:solidFill>
              </a:rPr>
              <a:t>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319125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2E"/>
                </a:solidFill>
              </a:rPr>
              <a:t>10분 이내 완성 루틴 완전 체득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447288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사진 촬영(1분) → 젬스 문구 생성(2분) → 업로드(2분) = 총 5분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694176"/>
            <a:ext cx="5303520" cy="7315"/>
          </a:xfrm>
          <a:prstGeom prst="rect">
            <a:avLst/>
          </a:prstGeom>
          <a:solidFill>
            <a:srgbClr val="E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3758184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6A085"/>
                </a:solidFill>
              </a:rPr>
              <a:t>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2960" y="375818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2E"/>
                </a:solidFill>
              </a:rPr>
              <a:t>네이버 플레이스 보완 완료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014216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무료체험 예약 + 네이버 톡톡 기능 추가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261104"/>
            <a:ext cx="5303520" cy="7315"/>
          </a:xfrm>
          <a:prstGeom prst="rect">
            <a:avLst/>
          </a:prstGeom>
          <a:solidFill>
            <a:srgbClr val="E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4325112"/>
            <a:ext cx="320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6A085"/>
                </a:solidFill>
              </a:rPr>
              <a:t>✅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3251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A1A2E"/>
                </a:solidFill>
              </a:rPr>
              <a:t>AI 홍보 이미지 생성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581144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챗GPT·제미나이 활용 초상권 보호 일러스트 제작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828032"/>
            <a:ext cx="5303520" cy="7315"/>
          </a:xfrm>
          <a:prstGeom prst="rect">
            <a:avLst/>
          </a:prstGeom>
          <a:solidFill>
            <a:srgbClr val="E0E8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63640" y="1463040"/>
            <a:ext cx="5577840" cy="45720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0" y="1508760"/>
            <a:ext cx="53949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리뷰 30개 달성 실행 계획 (3개월)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55080" y="205740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4A6B9A"/>
                </a:solidFill>
              </a:rPr>
              <a:t>최적 리뷰 요청 타이밍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55080" y="2377440"/>
            <a:ext cx="5394960" cy="493776"/>
          </a:xfrm>
          <a:prstGeom prst="rect">
            <a:avLst/>
          </a:prstGeom>
          <a:solidFill>
            <a:srgbClr val="F0F4FA"/>
          </a:solidFill>
          <a:ln w="9525">
            <a:solidFill>
              <a:srgbClr val="C0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55080" y="2377440"/>
            <a:ext cx="109728" cy="493776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19672" y="2414016"/>
            <a:ext cx="5166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신규 등록 1개월 후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19672" y="2633472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F8C8D"/>
                </a:solidFill>
              </a:rPr>
              <a:t>적응 완료 → 만족도 최고점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355080" y="2944368"/>
            <a:ext cx="5394960" cy="493776"/>
          </a:xfrm>
          <a:prstGeom prst="rect">
            <a:avLst/>
          </a:prstGeom>
          <a:solidFill>
            <a:srgbClr val="F0F4FA"/>
          </a:solidFill>
          <a:ln w="9525">
            <a:solidFill>
              <a:srgbClr val="C0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55080" y="2944368"/>
            <a:ext cx="109728" cy="493776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19672" y="2980944"/>
            <a:ext cx="5166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승급 심사 직후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9672" y="3200400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F8C8D"/>
                </a:solidFill>
              </a:rPr>
              <a:t>성취감 최고조 → 긍정 리뷰 자연 유도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55080" y="3511296"/>
            <a:ext cx="5394960" cy="493776"/>
          </a:xfrm>
          <a:prstGeom prst="rect">
            <a:avLst/>
          </a:prstGeom>
          <a:solidFill>
            <a:srgbClr val="F0F4FA"/>
          </a:solidFill>
          <a:ln w="9525">
            <a:solidFill>
              <a:srgbClr val="C0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55080" y="3511296"/>
            <a:ext cx="109728" cy="493776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19672" y="3547872"/>
            <a:ext cx="5166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야간수련·이벤트 직후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19672" y="3767328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F8C8D"/>
                </a:solidFill>
              </a:rPr>
              <a:t>특별 경험 → 감동 공유 욕구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4078224"/>
            <a:ext cx="5394960" cy="493776"/>
          </a:xfrm>
          <a:prstGeom prst="rect">
            <a:avLst/>
          </a:prstGeom>
          <a:solidFill>
            <a:srgbClr val="F0F4FA"/>
          </a:solidFill>
          <a:ln w="9525">
            <a:solidFill>
              <a:srgbClr val="C0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55080" y="4078224"/>
            <a:ext cx="109728" cy="493776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519672" y="4114800"/>
            <a:ext cx="51663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A1A2E"/>
                </a:solidFill>
              </a:rPr>
              <a:t>부모 감사 표현 시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19672" y="4334256"/>
            <a:ext cx="51663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7F8C8D"/>
                </a:solidFill>
              </a:rPr>
              <a:t>자발적 만족 상태 → 최적 타이밍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4736592"/>
            <a:ext cx="5577840" cy="384048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5080" y="4791456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</a:rPr>
              <a:t>리뷰 목표: 현재 13개 → 3개월 내 30개 이상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46520" y="5212080"/>
            <a:ext cx="5212080" cy="411480"/>
          </a:xfrm>
          <a:prstGeom prst="rect">
            <a:avLst/>
          </a:prstGeom>
          <a:solidFill>
            <a:srgbClr val="D8E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46520" y="5212080"/>
            <a:ext cx="2258568" cy="41148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92240" y="5303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현재 13개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05088" y="5212080"/>
            <a:ext cx="2953512" cy="411480"/>
          </a:xfrm>
          <a:prstGeom prst="rect">
            <a:avLst/>
          </a:prstGeom>
          <a:solidFill>
            <a:srgbClr val="B0C8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96528" y="5303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1A2E"/>
                </a:solidFill>
              </a:rPr>
              <a:t>목표 +17개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28016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06  컨설팅 성과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CCEE"/>
                </a:solidFill>
              </a:rPr>
              <a:t>Before → After  전후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81328"/>
            <a:ext cx="1417320" cy="402336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536192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항 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28800" y="1481328"/>
            <a:ext cx="4389120" cy="402336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20240" y="153619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BEFORE  컨설팅 이전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92240" y="1481328"/>
            <a:ext cx="4389120" cy="402336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153619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AFTER  컨설팅 이후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1883664"/>
            <a:ext cx="1417320" cy="896112"/>
          </a:xfrm>
          <a:prstGeom prst="rect">
            <a:avLst/>
          </a:prstGeom>
          <a:solidFill>
            <a:srgbClr val="E8EDF5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956816"/>
            <a:ext cx="135331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3E"/>
                </a:solidFill>
              </a:rPr>
              <a:t>네이버 플레이스 운영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28800" y="1883664"/>
            <a:ext cx="4389120" cy="896112"/>
          </a:xfrm>
          <a:prstGeom prst="rect">
            <a:avLst/>
          </a:prstGeom>
          <a:solidFill>
            <a:srgbClr val="FFF0F0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38528" y="1993392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운영 미흡
(리뷰 댓글 無 / 소식 無 / 정보 불일치)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17920" y="2157984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6B9A"/>
                </a:solidFill>
              </a:rPr>
              <a:t>➜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92240" y="1883664"/>
            <a:ext cx="4389120" cy="896112"/>
          </a:xfrm>
          <a:prstGeom prst="rect">
            <a:avLst/>
          </a:prstGeom>
          <a:solidFill>
            <a:srgbClr val="F0FFF4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1968" y="1993392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6A085"/>
                </a:solidFill>
              </a:rPr>
              <a:t>전면 정비 완료
메뉴구성 · 콘텐츠 · 댓글 · 소식 업데이트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2834640"/>
            <a:ext cx="1417320" cy="896112"/>
          </a:xfrm>
          <a:prstGeom prst="rect">
            <a:avLst/>
          </a:prstGeom>
          <a:solidFill>
            <a:srgbClr val="E8EDF5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907792"/>
            <a:ext cx="135331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3E"/>
                </a:solidFill>
              </a:rPr>
              <a:t>마케팅 문구 작성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828800" y="2834640"/>
            <a:ext cx="4389120" cy="896112"/>
          </a:xfrm>
          <a:prstGeom prst="rect">
            <a:avLst/>
          </a:prstGeom>
          <a:solidFill>
            <a:srgbClr val="FFF0F0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938528" y="2944368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인스타/블로그 문구
자체 작성 불가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3108960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6B9A"/>
                </a:solidFill>
              </a:rPr>
              <a:t>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92240" y="2834640"/>
            <a:ext cx="4389120" cy="896112"/>
          </a:xfrm>
          <a:prstGeom prst="rect">
            <a:avLst/>
          </a:prstGeom>
          <a:solidFill>
            <a:srgbClr val="F0FFF4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01968" y="2944368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6A085"/>
                </a:solidFill>
              </a:rPr>
              <a:t>AI 젬스 3종 + 매뉴얼 제공
→  클릭 한 번으로 자동 생성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3785616"/>
            <a:ext cx="1417320" cy="896112"/>
          </a:xfrm>
          <a:prstGeom prst="rect">
            <a:avLst/>
          </a:prstGeom>
          <a:solidFill>
            <a:srgbClr val="E8EDF5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858768"/>
            <a:ext cx="135331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3E"/>
                </a:solidFill>
              </a:rPr>
              <a:t>홍보물 제작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28800" y="3785616"/>
            <a:ext cx="4389120" cy="896112"/>
          </a:xfrm>
          <a:prstGeom prst="rect">
            <a:avLst/>
          </a:prstGeom>
          <a:solidFill>
            <a:srgbClr val="FFF0F0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938528" y="3895344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홍보물 자체 제작
완전 불가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4059936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6B9A"/>
                </a:solidFill>
              </a:rPr>
              <a:t>➜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92240" y="3785616"/>
            <a:ext cx="4389120" cy="896112"/>
          </a:xfrm>
          <a:prstGeom prst="rect">
            <a:avLst/>
          </a:prstGeom>
          <a:solidFill>
            <a:srgbClr val="F0FFF4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895344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6A085"/>
                </a:solidFill>
              </a:rPr>
              <a:t>챗GPT · 제미나이 활용
초상권 보호 일러스트 자유 제작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736592"/>
            <a:ext cx="1417320" cy="896112"/>
          </a:xfrm>
          <a:prstGeom prst="rect">
            <a:avLst/>
          </a:prstGeom>
          <a:solidFill>
            <a:srgbClr val="E8EDF5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4809744"/>
            <a:ext cx="1353312" cy="7863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3E"/>
                </a:solidFill>
              </a:rPr>
              <a:t>운영 루틴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28800" y="4736592"/>
            <a:ext cx="4389120" cy="896112"/>
          </a:xfrm>
          <a:prstGeom prst="rect">
            <a:avLst/>
          </a:prstGeom>
          <a:solidFill>
            <a:srgbClr val="FFF0F0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938528" y="484632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1A2E"/>
                </a:solidFill>
              </a:rPr>
              <a:t>마케팅 루틴
전무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217920" y="5010912"/>
            <a:ext cx="45720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4A6B9A"/>
                </a:solidFill>
              </a:rPr>
              <a:t>➜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92240" y="4736592"/>
            <a:ext cx="4389120" cy="896112"/>
          </a:xfrm>
          <a:prstGeom prst="rect">
            <a:avLst/>
          </a:prstGeom>
          <a:solidFill>
            <a:srgbClr val="F0FFF4"/>
          </a:solidFill>
          <a:ln w="6350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01968" y="4846320"/>
            <a:ext cx="4206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16A085"/>
                </a:solidFill>
              </a:rPr>
              <a:t>주 2회 10분 루틴 확립
(촬영 1분 + 젬스 2분 + 업로드 2분)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8288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자립형 마케팅 루틴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74980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CCEE"/>
                </a:solidFill>
              </a:rPr>
              <a:t>주 2회  10분 마케팅 루틴으로 컨설팅 이후에도 지속 가능한 성장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71600"/>
            <a:ext cx="2108606" cy="2560320"/>
          </a:xfrm>
          <a:prstGeom prst="rect">
            <a:avLst/>
          </a:prstGeom>
          <a:solidFill>
            <a:srgbClr val="10224A"/>
          </a:solidFill>
          <a:ln w="2540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1371600"/>
            <a:ext cx="2108606" cy="457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26464"/>
            <a:ext cx="201716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1분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" y="1938528"/>
            <a:ext cx="199887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5A623"/>
                </a:solidFill>
              </a:rPr>
              <a:t>사진 촬영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" y="2542032"/>
            <a:ext cx="199887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DDFF"/>
                </a:solidFill>
              </a:rPr>
              <a:t>수련 뒷모습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2889504"/>
            <a:ext cx="199887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DDFF"/>
                </a:solidFill>
              </a:rPr>
              <a:t>시설 모습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474366" y="2377440"/>
            <a:ext cx="228600" cy="27432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02966" y="1371600"/>
            <a:ext cx="2108606" cy="2560320"/>
          </a:xfrm>
          <a:prstGeom prst="rect">
            <a:avLst/>
          </a:prstGeom>
          <a:solidFill>
            <a:srgbClr val="10224A"/>
          </a:solidFill>
          <a:ln w="254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02966" y="1371600"/>
            <a:ext cx="2108606" cy="457200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48686" y="1426464"/>
            <a:ext cx="201716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6118" y="1938528"/>
            <a:ext cx="199887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4A6B9A"/>
                </a:solidFill>
              </a:rPr>
              <a:t>젬스 문구 생성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76118" y="2542032"/>
            <a:ext cx="199887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DDFF"/>
                </a:solidFill>
              </a:rPr>
              <a:t>인스타 텍스트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6118" y="2889504"/>
            <a:ext cx="199887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DDFF"/>
                </a:solidFill>
              </a:rPr>
              <a:t>+ 해시태그 자동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11572" y="2377440"/>
            <a:ext cx="228600" cy="274320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40172" y="1371600"/>
            <a:ext cx="2108606" cy="2560320"/>
          </a:xfrm>
          <a:prstGeom prst="rect">
            <a:avLst/>
          </a:prstGeom>
          <a:solidFill>
            <a:srgbClr val="10224A"/>
          </a:solidFill>
          <a:ln w="2540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40172" y="1371600"/>
            <a:ext cx="2108606" cy="4572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85892" y="1426464"/>
            <a:ext cx="201716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2분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13324" y="1938528"/>
            <a:ext cx="199887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6A085"/>
                </a:solidFill>
              </a:rPr>
              <a:t>업로드 완료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13324" y="2542032"/>
            <a:ext cx="199887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DDFF"/>
                </a:solidFill>
              </a:rPr>
              <a:t>인스타그램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13324" y="2889504"/>
            <a:ext cx="199887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DDFF"/>
                </a:solidFill>
              </a:rPr>
              <a:t>포스팅 완성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48779" y="2377440"/>
            <a:ext cx="228600" cy="27432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377379" y="1371600"/>
            <a:ext cx="2108606" cy="2560320"/>
          </a:xfrm>
          <a:prstGeom prst="rect">
            <a:avLst/>
          </a:prstGeom>
          <a:solidFill>
            <a:srgbClr val="10224A"/>
          </a:solidFill>
          <a:ln w="2540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77379" y="1371600"/>
            <a:ext cx="2108606" cy="45720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23099" y="1426464"/>
            <a:ext cx="201716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별도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50531" y="1938528"/>
            <a:ext cx="199887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67E22"/>
                </a:solidFill>
              </a:rPr>
              <a:t>리뷰 요청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50531" y="2542032"/>
            <a:ext cx="199887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DDFF"/>
                </a:solidFill>
              </a:rPr>
              <a:t>젬스 2번 활용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50531" y="2889504"/>
            <a:ext cx="199887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DDFF"/>
                </a:solidFill>
              </a:rPr>
              <a:t>개별 맞춤 카톡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85985" y="2377440"/>
            <a:ext cx="228600" cy="274320"/>
          </a:xfrm>
          <a:prstGeom prst="rect">
            <a:avLst/>
          </a:prstGeom>
          <a:solidFill>
            <a:srgbClr val="E67E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714585" y="1371600"/>
            <a:ext cx="2108606" cy="2560320"/>
          </a:xfrm>
          <a:prstGeom prst="rect">
            <a:avLst/>
          </a:prstGeom>
          <a:solidFill>
            <a:srgbClr val="10224A"/>
          </a:solidFill>
          <a:ln w="25400">
            <a:solidFill>
              <a:srgbClr val="C0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14585" y="1371600"/>
            <a:ext cx="2108606" cy="45720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60305" y="1426464"/>
            <a:ext cx="201716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즉시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7737" y="1938528"/>
            <a:ext cx="1998878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01C2C"/>
                </a:solidFill>
              </a:rPr>
              <a:t>리뷰 답글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7737" y="2542032"/>
            <a:ext cx="199887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DDFF"/>
                </a:solidFill>
              </a:rPr>
              <a:t>젬스 3번 활용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7737" y="2889504"/>
            <a:ext cx="199887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CDDFF"/>
                </a:solidFill>
              </a:rPr>
              <a:t>감사 답글 자동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069080"/>
            <a:ext cx="11457432" cy="59436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160520"/>
            <a:ext cx="1109167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⏱  총 5분 이내 완성 — 스마트폰 하나로 전문적인 마케팅 콘텐츠 제작 가능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4754880"/>
            <a:ext cx="2658618" cy="347472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8912" y="4782312"/>
            <a:ext cx="256717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네이버 플레이스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65760" y="5102352"/>
            <a:ext cx="2658618" cy="1371600"/>
          </a:xfrm>
          <a:prstGeom prst="rect">
            <a:avLst/>
          </a:prstGeom>
          <a:solidFill>
            <a:srgbClr val="10224A"/>
          </a:solidFill>
          <a:ln w="127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5166360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정보 최신화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57200" y="5495544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리뷰 답글 등록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824728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소식 게시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98698" y="4754880"/>
            <a:ext cx="2658618" cy="347472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371850" y="4782312"/>
            <a:ext cx="256717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인스타그램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298698" y="5102352"/>
            <a:ext cx="2658618" cy="1371600"/>
          </a:xfrm>
          <a:prstGeom prst="rect">
            <a:avLst/>
          </a:prstGeom>
          <a:solidFill>
            <a:srgbClr val="10224A"/>
          </a:solidFill>
          <a:ln w="127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390138" y="5166360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주 2회 포스팅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90138" y="5495544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해시태그 최적화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90138" y="5824728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팔로워 소통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31636" y="4754880"/>
            <a:ext cx="2658618" cy="347472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304788" y="4782312"/>
            <a:ext cx="256717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리뷰 관리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231636" y="5102352"/>
            <a:ext cx="2658618" cy="1371600"/>
          </a:xfrm>
          <a:prstGeom prst="rect">
            <a:avLst/>
          </a:prstGeom>
          <a:solidFill>
            <a:srgbClr val="10224A"/>
          </a:solidFill>
          <a:ln w="127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23076" y="5166360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개별 요청 발송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323076" y="5495544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답글 즉시 등록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3076" y="5824728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리뷰 30개 목표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164574" y="4754880"/>
            <a:ext cx="2658618" cy="347472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37726" y="4782312"/>
            <a:ext cx="256717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환경개선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164574" y="5102352"/>
            <a:ext cx="2658618" cy="1371600"/>
          </a:xfrm>
          <a:prstGeom prst="rect">
            <a:avLst/>
          </a:prstGeom>
          <a:solidFill>
            <a:srgbClr val="10224A"/>
          </a:solidFill>
          <a:ln w="1270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256014" y="5166360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계단/복도 청결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256014" y="5495544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비포·애프터 기록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256014" y="5824728"/>
            <a:ext cx="252145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CDDFF"/>
                </a:solidFill>
              </a:rPr>
              <a:t>✅ 학부모 첫인상 관리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28016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05-2  자립 시스템 총정리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CCEE"/>
                </a:solidFill>
              </a:rPr>
              <a:t>컨설팅 종료 시점 구축 완료 현황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81328"/>
            <a:ext cx="1145743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81328"/>
            <a:ext cx="502920" cy="713232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904" y="1645920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53619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네이버 플레이스 최적화 및 업데이트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828800"/>
            <a:ext cx="10771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브랜드 통일 · 운영시간 · 소개글 · 사진 · 핵심 서비스 전면 정비 완료
무료체험 예약 + 네이버 톡톡 추가 → 예비 관원 소통 채널 확보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258568"/>
            <a:ext cx="1145743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2258568"/>
            <a:ext cx="502920" cy="713232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4904" y="2423160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231343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인스타그램 공식 채널 정상 가동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2606040"/>
            <a:ext cx="10771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역삼효태권도장 공식 인스타그램 개설 · 첫 포스팅 업로드 완료
관장님 직접 실습으로 지속 운영 역량 확보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035808"/>
            <a:ext cx="1145743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035808"/>
            <a:ext cx="502920" cy="713232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4904" y="3200400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09067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AI 젬스 4종 완전 체득 및 실습 완료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3383280"/>
            <a:ext cx="10771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인스타 포스팅 생성기 / 리뷰 요청 카톡 생성기 / 리뷰 답글 생성기
AI 홍보이미지 생성 → 젬스 활용 매뉴얼 제작 및 숙지 확인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813048"/>
            <a:ext cx="1145743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5760" y="3813048"/>
            <a:ext cx="502920" cy="713232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4904" y="3977640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386791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주 2회 10분 마케팅 루틴 확립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4160520"/>
            <a:ext cx="10771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사진 촬영(1분) + 젬스 활용(2분) + 업로드(2분) = 5분 이내 완성 루틴
외부 대행 없이 스스로 지속 가능한 자립형 마케팅 시스템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590288"/>
            <a:ext cx="1145743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590288"/>
            <a:ext cx="502920" cy="713232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74904" y="4754880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64515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리뷰 30개 달성 단계별 실행 계획 수립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4937760"/>
            <a:ext cx="10771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현재 13개 → 3개월 내 30개 목표 · 최적 타이밍별 요청 전략 확정
젬스 2번 활용 개별 맞춤 발송으로 강요 없는 자연스러운 리뷰 확보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5367528"/>
            <a:ext cx="11457432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CCD8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5760" y="5367528"/>
            <a:ext cx="502920" cy="713232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74904" y="5532120"/>
            <a:ext cx="47548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422392"/>
            <a:ext cx="4389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환경개선 및 학부모 눈높이 소통 의지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715000"/>
            <a:ext cx="107716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7F8C8D"/>
                </a:solidFill>
              </a:rPr>
              <a:t>계단·복도 청결 환경개선 (첫인상 관리)
비포·애프터 이미지화 및 서울시 소상공인 지원사업 연계 안내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28016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201168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07  향후 제언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804672"/>
            <a:ext cx="10972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BCCEE"/>
                </a:solidFill>
              </a:rPr>
              <a:t>지속 가능성 및 성장 전략 제언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88952" cy="32004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65392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99BB"/>
                </a:solidFill>
              </a:rPr>
              <a:t>역삼효태권도장 | 소상공인 온라인 마케팅 컨설팅 보고서 | 2026.05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14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481328"/>
            <a:ext cx="5591556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C01C2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1481328"/>
            <a:ext cx="5591556" cy="45720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545336"/>
            <a:ext cx="54086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01  단톡방 유지를 통한 사후 관리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048256"/>
            <a:ext cx="53629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컨설팅 팀과 단체 채팅방 유지로 추후 궁금증 즉시 해결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450592"/>
            <a:ext cx="53629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지속적인 관리 및 피드백 제공 예정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31636" y="1481328"/>
            <a:ext cx="5591556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F5A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1636" y="1481328"/>
            <a:ext cx="5591556" cy="4572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41364" y="1545336"/>
            <a:ext cx="54086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02  WOM(입소문) 마케팅 활용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68796" y="2048256"/>
            <a:ext cx="53629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컨설팅 수혜 업체가 주변 소상공인 대상으로 홍보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8796" y="2450592"/>
            <a:ext cx="53629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→ 추천제도 운영으로 선순환 생태계 구축 제언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749039"/>
            <a:ext cx="5591556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16A08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749039"/>
            <a:ext cx="5591556" cy="457200"/>
          </a:xfrm>
          <a:prstGeom prst="rect">
            <a:avLst/>
          </a:prstGeom>
          <a:solidFill>
            <a:srgbClr val="16A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3813047"/>
            <a:ext cx="54086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03  서울시 소상공인 지원사업 연계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315967"/>
            <a:ext cx="53629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서울특별시 소상공인 지원사업 (seoulsbdc.or.kr) 활용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4718303"/>
            <a:ext cx="53629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하반기 시설개선 지원 300만원 → 계단·복도 환경개선 비용 절감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31636" y="3749039"/>
            <a:ext cx="5591556" cy="2103120"/>
          </a:xfrm>
          <a:prstGeom prst="rect">
            <a:avLst/>
          </a:prstGeom>
          <a:solidFill>
            <a:srgbClr val="FFFFFF"/>
          </a:solidFill>
          <a:ln w="19050">
            <a:solidFill>
              <a:srgbClr val="4A6B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31636" y="3749039"/>
            <a:ext cx="5591556" cy="457200"/>
          </a:xfrm>
          <a:prstGeom prst="rect">
            <a:avLst/>
          </a:prstGeom>
          <a:solidFill>
            <a:srgbClr val="4A6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41364" y="3813047"/>
            <a:ext cx="54086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04  콘텐츠 자산 지속 축적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68796" y="4315967"/>
            <a:ext cx="53629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수련 사진·영상 꾸준한 기록 → 인스타그램·네이버 플레이스 콘텐츠 자산화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68796" y="4718303"/>
            <a:ext cx="5362956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1A2E"/>
                </a:solidFill>
              </a:rPr>
              <a:t>• "가랑비에 옷 젖듯이" 철학을 온라인에서도 실현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5943600"/>
            <a:ext cx="11457432" cy="59436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5989320"/>
            <a:ext cx="11091672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5A623"/>
                </a:solidFill>
              </a:rPr>
              <a:t>"태권도 학원들이 대체로 홍보 마케팅과 거리가 멀었는데, 3일 동안 완전히! 꼭 필요한 것을 너무나도 꽉꽉 채워주셨습니다. 감사합니다!"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C01C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902952" y="-914400"/>
            <a:ext cx="4114800" cy="4114800"/>
          </a:xfrm>
          <a:prstGeom prst="ellipse">
            <a:avLst/>
          </a:prstGeom>
          <a:solidFill>
            <a:srgbClr val="14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274552" y="5486400"/>
            <a:ext cx="2743200" cy="2743200"/>
          </a:xfrm>
          <a:prstGeom prst="ellipse">
            <a:avLst/>
          </a:prstGeom>
          <a:solidFill>
            <a:srgbClr val="0A15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3716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800" b="1" i="0">
                <a:solidFill>
                  <a:srgbClr val="FFFFFF"/>
                </a:solidFill>
              </a:rPr>
              <a:t>감사합니다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514600"/>
            <a:ext cx="4114800" cy="54864"/>
          </a:xfrm>
          <a:prstGeom prst="rect">
            <a:avLst/>
          </a:prstGeom>
          <a:solidFill>
            <a:srgbClr val="F5A62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697480"/>
            <a:ext cx="10058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BCCEE"/>
                </a:solidFill>
              </a:rPr>
              <a:t>역삼효태권도장  온라인 마케팅 컨설팅 보고서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3756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✅  네이버 플레이스 완전 최적화 및 브랜드 통일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9476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✅  인스타그램 공식 채널 개설 및 첫 포스팅 완료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25196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✅  AI 젬스 3종 자동화 시스템 완전 체득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70916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✅  주 2회 10분 마케팅 루틴 자립 시스템 완성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166360"/>
            <a:ext cx="7315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FFFFFF"/>
                </a:solidFill>
              </a:rPr>
              <a:t>✅  3개월 리뷰 30개 달성 단계별 실행 계획 수립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5852160"/>
            <a:ext cx="6400800" cy="594360"/>
          </a:xfrm>
          <a:prstGeom prst="rect">
            <a:avLst/>
          </a:prstGeom>
          <a:solidFill>
            <a:srgbClr val="1428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897880"/>
            <a:ext cx="6217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BBCCEE"/>
                </a:solidFill>
              </a:rPr>
              <a:t>컨설팅 팀: B그룹 5조  |  권용준, 손미현  |  2026.05.26 ~ 2026.05.29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31752" y="6556248"/>
            <a:ext cx="365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ABBCC"/>
                </a:solidFill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